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62" r:id="rId2"/>
    <p:sldId id="267" r:id="rId3"/>
    <p:sldId id="266" r:id="rId4"/>
    <p:sldId id="264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7701"/>
    <a:srgbClr val="DEA900"/>
    <a:srgbClr val="FFCC2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355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9783316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06060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0713" y="717613"/>
            <a:ext cx="10965687" cy="338554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</a:pPr>
            <a:r>
              <a:rPr lang="en-US"/>
              <a:t>Click to edit Master title style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7D14E4D-CAE3-3A0B-B3F8-465622E4D6E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7699" y="6416865"/>
            <a:ext cx="488145" cy="17946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86C1CD2-C3C3-99BC-1F71-5CF176EF164E}"/>
              </a:ext>
            </a:extLst>
          </p:cNvPr>
          <p:cNvSpPr txBox="1"/>
          <p:nvPr userDrawn="1"/>
        </p:nvSpPr>
        <p:spPr>
          <a:xfrm>
            <a:off x="-579120" y="4592320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>
              <a:lnSpc>
                <a:spcPct val="110000"/>
              </a:lnSpc>
              <a:spcBef>
                <a:spcPts val="600"/>
              </a:spcBef>
            </a:pPr>
            <a:endParaRPr lang="en-US" sz="1200" err="1">
              <a:ea typeface="Human Sans" charset="0"/>
              <a:cs typeface="Human Sans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5DDA9FD-D621-0134-9699-89AED709AC96}"/>
              </a:ext>
            </a:extLst>
          </p:cNvPr>
          <p:cNvSpPr txBox="1"/>
          <p:nvPr userDrawn="1"/>
        </p:nvSpPr>
        <p:spPr>
          <a:xfrm>
            <a:off x="4429760" y="-53848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>
              <a:lnSpc>
                <a:spcPct val="110000"/>
              </a:lnSpc>
              <a:spcBef>
                <a:spcPts val="600"/>
              </a:spcBef>
            </a:pPr>
            <a:endParaRPr lang="en-US" sz="1200" err="1">
              <a:ea typeface="Human Sans" charset="0"/>
              <a:cs typeface="Human Sans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3D7453A-FF25-1748-B091-91F29105A245}"/>
              </a:ext>
            </a:extLst>
          </p:cNvPr>
          <p:cNvSpPr txBox="1"/>
          <p:nvPr userDrawn="1"/>
        </p:nvSpPr>
        <p:spPr>
          <a:xfrm>
            <a:off x="9517294" y="6406591"/>
            <a:ext cx="1723301" cy="218934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B3E5B4CB-0A41-3758-17D3-77CB4387DBAE}"/>
              </a:ext>
            </a:extLst>
          </p:cNvPr>
          <p:cNvSpPr txBox="1">
            <a:spLocks/>
          </p:cNvSpPr>
          <p:nvPr userDrawn="1"/>
        </p:nvSpPr>
        <p:spPr>
          <a:xfrm>
            <a:off x="1134186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800" smtClean="0">
                <a:solidFill>
                  <a:schemeClr val="bg1"/>
                </a:solidFill>
              </a:rPr>
              <a:pPr lvl="0"/>
              <a:t>‹#›</a:t>
            </a:fld>
            <a:endParaRPr lang="en-US" sz="1000">
              <a:solidFill>
                <a:schemeClr val="bg1"/>
              </a:solidFill>
            </a:endParaRP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94283C5-7CEB-C3A6-3D15-0C58149D10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6410" y="1581502"/>
            <a:ext cx="10948386" cy="4628797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8079369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</p:sldLayoutIdLst>
  <p:hf hd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lang="en-US" sz="2200" b="1" i="0" kern="1200" spc="0" dirty="0">
          <a:solidFill>
            <a:schemeClr val="bg1"/>
          </a:solidFill>
          <a:effectLst/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0"/>
        </a:spcAft>
        <a:buFont typeface="Arial" panose="020B0604020202020204" pitchFamily="34" charset="0"/>
        <a:buNone/>
        <a:defRPr lang="en-US" sz="1400" b="0" i="0" kern="1200" dirty="0">
          <a:solidFill>
            <a:schemeClr val="bg1"/>
          </a:solidFill>
          <a:latin typeface="Calibri"/>
          <a:ea typeface="Calibri" panose="020F0502020204030204" pitchFamily="34" charset="0"/>
          <a:cs typeface="Calibri" panose="020F0502020204030204" pitchFamily="34" charset="0"/>
        </a:defRPr>
      </a:lvl1pPr>
      <a:lvl2pPr marL="182880" indent="-182880" algn="l" defTabSz="914400" rtl="0" eaLnBrk="1" latinLnBrk="0" hangingPunct="1">
        <a:lnSpc>
          <a:spcPct val="100000"/>
        </a:lnSpc>
        <a:spcBef>
          <a:spcPts val="600"/>
        </a:spcBef>
        <a:spcAft>
          <a:spcPts val="0"/>
        </a:spcAft>
        <a:buClr>
          <a:schemeClr val="bg1"/>
        </a:buClr>
        <a:buFont typeface="Arial" panose="020B0604020202020204" pitchFamily="34" charset="0"/>
        <a:buChar char="•"/>
        <a:defRPr lang="en-US" sz="1400" b="0" i="0" kern="1200" dirty="0">
          <a:solidFill>
            <a:schemeClr val="bg1"/>
          </a:solidFill>
          <a:latin typeface="Calibri"/>
          <a:ea typeface="Calibri" panose="020F0502020204030204" pitchFamily="34" charset="0"/>
          <a:cs typeface="Calibri" panose="020F0502020204030204" pitchFamily="34" charset="0"/>
        </a:defRPr>
      </a:lvl2pPr>
      <a:lvl3pPr marL="365760" indent="-182880" algn="l" defTabSz="914400" rtl="0" eaLnBrk="1" latinLnBrk="0" hangingPunct="1">
        <a:lnSpc>
          <a:spcPct val="100000"/>
        </a:lnSpc>
        <a:spcBef>
          <a:spcPts val="600"/>
        </a:spcBef>
        <a:spcAft>
          <a:spcPts val="0"/>
        </a:spcAft>
        <a:buClr>
          <a:schemeClr val="bg1"/>
        </a:buClr>
        <a:buFont typeface="Courier New" panose="02070309020205020404" pitchFamily="49" charset="0"/>
        <a:buChar char="o"/>
        <a:defRPr lang="en-US" sz="1200" b="0" i="0" kern="1200" dirty="0">
          <a:solidFill>
            <a:schemeClr val="bg1"/>
          </a:solidFill>
          <a:latin typeface="Calibri"/>
          <a:ea typeface="Calibri" panose="020F0502020204030204" pitchFamily="34" charset="0"/>
          <a:cs typeface="Calibri" panose="020F0502020204030204" pitchFamily="34" charset="0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600"/>
        </a:spcBef>
        <a:spcAft>
          <a:spcPts val="0"/>
        </a:spcAft>
        <a:buFont typeface="Arial" panose="020B0604020202020204" pitchFamily="34" charset="0"/>
        <a:buChar char="•"/>
        <a:defRPr lang="en-US" sz="1200" b="0" i="0" kern="1200" dirty="0">
          <a:solidFill>
            <a:schemeClr val="bg1"/>
          </a:solidFill>
          <a:latin typeface="+mn-lt"/>
          <a:ea typeface="Calibri" panose="020F0502020204030204" pitchFamily="34" charset="0"/>
          <a:cs typeface="Calibri" panose="020F0502020204030204" pitchFamily="34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600"/>
        </a:spcBef>
        <a:spcAft>
          <a:spcPts val="0"/>
        </a:spcAft>
        <a:buFont typeface="Arial" panose="020B0604020202020204" pitchFamily="34" charset="0"/>
        <a:buChar char="•"/>
        <a:defRPr lang="en-US" sz="1200" b="0" i="0" kern="1200" dirty="0">
          <a:solidFill>
            <a:schemeClr val="bg1"/>
          </a:solidFill>
          <a:latin typeface="+mn-lt"/>
          <a:ea typeface="Calibri" panose="020F0502020204030204" pitchFamily="34" charset="0"/>
          <a:cs typeface="Calibri" panose="020F05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91">
          <p15:clr>
            <a:srgbClr val="F26B43"/>
          </p15:clr>
        </p15:guide>
        <p15:guide id="3" pos="7301">
          <p15:clr>
            <a:srgbClr val="F26B43"/>
          </p15:clr>
        </p15:guide>
        <p15:guide id="12" orient="horz" pos="3912">
          <p15:clr>
            <a:srgbClr val="F26B43"/>
          </p15:clr>
        </p15:guide>
        <p15:guide id="13" pos="826">
          <p15:clr>
            <a:srgbClr val="F26B43"/>
          </p15:clr>
        </p15:guide>
        <p15:guide id="14" pos="981">
          <p15:clr>
            <a:srgbClr val="F26B43"/>
          </p15:clr>
        </p15:guide>
        <p15:guide id="15" pos="1392">
          <p15:clr>
            <a:srgbClr val="F26B43"/>
          </p15:clr>
        </p15:guide>
        <p15:guide id="16" pos="1536">
          <p15:clr>
            <a:srgbClr val="F26B43"/>
          </p15:clr>
        </p15:guide>
        <p15:guide id="17" pos="2000">
          <p15:clr>
            <a:srgbClr val="F26B43"/>
          </p15:clr>
        </p15:guide>
        <p15:guide id="18" pos="2152">
          <p15:clr>
            <a:srgbClr val="F26B43"/>
          </p15:clr>
        </p15:guide>
        <p15:guide id="19" pos="2590">
          <p15:clr>
            <a:srgbClr val="F26B43"/>
          </p15:clr>
        </p15:guide>
        <p15:guide id="20" pos="2743">
          <p15:clr>
            <a:srgbClr val="F26B43"/>
          </p15:clr>
        </p15:guide>
        <p15:guide id="21" pos="3182">
          <p15:clr>
            <a:srgbClr val="F26B43"/>
          </p15:clr>
        </p15:guide>
        <p15:guide id="22" pos="3329">
          <p15:clr>
            <a:srgbClr val="F26B43"/>
          </p15:clr>
        </p15:guide>
        <p15:guide id="23" pos="3764">
          <p15:clr>
            <a:srgbClr val="F26B43"/>
          </p15:clr>
        </p15:guide>
        <p15:guide id="24" pos="3916">
          <p15:clr>
            <a:srgbClr val="F26B43"/>
          </p15:clr>
        </p15:guide>
        <p15:guide id="25" pos="4353">
          <p15:clr>
            <a:srgbClr val="F26B43"/>
          </p15:clr>
        </p15:guide>
        <p15:guide id="26" pos="4508">
          <p15:clr>
            <a:srgbClr val="F26B43"/>
          </p15:clr>
        </p15:guide>
        <p15:guide id="27" pos="4950">
          <p15:clr>
            <a:srgbClr val="F26B43"/>
          </p15:clr>
        </p15:guide>
        <p15:guide id="28" pos="5100">
          <p15:clr>
            <a:srgbClr val="F26B43"/>
          </p15:clr>
        </p15:guide>
        <p15:guide id="29" pos="5536">
          <p15:clr>
            <a:srgbClr val="F26B43"/>
          </p15:clr>
        </p15:guide>
        <p15:guide id="30" pos="5689">
          <p15:clr>
            <a:srgbClr val="F26B43"/>
          </p15:clr>
        </p15:guide>
        <p15:guide id="31" pos="6123">
          <p15:clr>
            <a:srgbClr val="F26B43"/>
          </p15:clr>
        </p15:guide>
        <p15:guide id="32" pos="6278">
          <p15:clr>
            <a:srgbClr val="F26B43"/>
          </p15:clr>
        </p15:guide>
        <p15:guide id="33" pos="6712">
          <p15:clr>
            <a:srgbClr val="F26B43"/>
          </p15:clr>
        </p15:guide>
        <p15:guide id="34" pos="6865">
          <p15:clr>
            <a:srgbClr val="F26B43"/>
          </p15:clr>
        </p15:guide>
        <p15:guide id="35" orient="horz" pos="984">
          <p15:clr>
            <a:srgbClr val="F26B43"/>
          </p15:clr>
        </p15:guide>
        <p15:guide id="36" orient="horz" pos="4128">
          <p15:clr>
            <a:srgbClr val="F26B43"/>
          </p15:clr>
        </p15:guide>
        <p15:guide id="37" orient="horz" pos="1080">
          <p15:clr>
            <a:srgbClr val="F26B43"/>
          </p15:clr>
        </p15:guide>
        <p15:guide id="38" orient="horz" pos="1248">
          <p15:clr>
            <a:srgbClr val="F26B43"/>
          </p15:clr>
        </p15:guide>
        <p15:guide id="39" orient="horz" pos="672">
          <p15:clr>
            <a:srgbClr val="F26B43"/>
          </p15:clr>
        </p15:guide>
        <p15:guide id="40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D8D4B2-EDA2-14EF-FF43-86593154A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40">
            <a:extLst>
              <a:ext uri="{FF2B5EF4-FFF2-40B4-BE49-F238E27FC236}">
                <a16:creationId xmlns:a16="http://schemas.microsoft.com/office/drawing/2014/main" id="{CC3157B8-4901-09B1-2ECC-912330EE8438}"/>
              </a:ext>
            </a:extLst>
          </p:cNvPr>
          <p:cNvSpPr/>
          <p:nvPr/>
        </p:nvSpPr>
        <p:spPr>
          <a:xfrm>
            <a:off x="3780154" y="3710039"/>
            <a:ext cx="3357516" cy="2563231"/>
          </a:xfrm>
          <a:prstGeom prst="rect">
            <a:avLst/>
          </a:prstGeom>
          <a:solidFill>
            <a:srgbClr val="16161F"/>
          </a:solidFill>
          <a:ln w="12700">
            <a:solidFill>
              <a:srgbClr val="2A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A156BD2-034D-7F0F-C49E-A74F5C63ACF0}"/>
              </a:ext>
            </a:extLst>
          </p:cNvPr>
          <p:cNvSpPr txBox="1"/>
          <p:nvPr/>
        </p:nvSpPr>
        <p:spPr>
          <a:xfrm>
            <a:off x="548640" y="320040"/>
            <a:ext cx="586064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 dirty="0">
                <a:solidFill>
                  <a:srgbClr val="FFFFFF"/>
                </a:solidFill>
              </a:rPr>
              <a:t>Executive Summary — </a:t>
            </a:r>
            <a:r>
              <a:rPr lang="en-US" sz="2800" b="1" dirty="0">
                <a:solidFill>
                  <a:srgbClr val="FFFFFF"/>
                </a:solidFill>
              </a:rPr>
              <a:t>[Project Name]</a:t>
            </a:r>
            <a:endParaRPr sz="2800" b="1" dirty="0">
              <a:solidFill>
                <a:srgbClr val="FFFFFF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FE81CC9-16A5-3007-410C-14F844462299}"/>
              </a:ext>
            </a:extLst>
          </p:cNvPr>
          <p:cNvSpPr txBox="1"/>
          <p:nvPr/>
        </p:nvSpPr>
        <p:spPr>
          <a:xfrm>
            <a:off x="548640" y="960120"/>
            <a:ext cx="845475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dirty="0">
                <a:solidFill>
                  <a:srgbClr val="C8C8D0"/>
                </a:solidFill>
              </a:rPr>
              <a:t>Reporting period: </a:t>
            </a:r>
            <a:r>
              <a:rPr lang="en-US" sz="1400" dirty="0">
                <a:solidFill>
                  <a:srgbClr val="C8C8D0"/>
                </a:solidFill>
              </a:rPr>
              <a:t>[Reporting Period]</a:t>
            </a:r>
            <a:r>
              <a:rPr sz="1400" dirty="0">
                <a:solidFill>
                  <a:srgbClr val="C8C8D0"/>
                </a:solidFill>
              </a:rPr>
              <a:t>  |   </a:t>
            </a:r>
            <a:r>
              <a:rPr lang="en-US" sz="1400" dirty="0">
                <a:solidFill>
                  <a:srgbClr val="C8C8D0"/>
                </a:solidFill>
              </a:rPr>
              <a:t>A</a:t>
            </a:r>
            <a:r>
              <a:rPr sz="1400" dirty="0">
                <a:solidFill>
                  <a:srgbClr val="C8C8D0"/>
                </a:solidFill>
              </a:rPr>
              <a:t>ssessment</a:t>
            </a:r>
            <a:r>
              <a:rPr lang="en-US" sz="1400" dirty="0">
                <a:solidFill>
                  <a:srgbClr val="C8C8D0"/>
                </a:solidFill>
              </a:rPr>
              <a:t> Date and Time</a:t>
            </a:r>
            <a:r>
              <a:rPr sz="1400" dirty="0">
                <a:solidFill>
                  <a:srgbClr val="C8C8D0"/>
                </a:solidFill>
              </a:rPr>
              <a:t>: </a:t>
            </a:r>
            <a:r>
              <a:rPr lang="en-US" sz="1400" dirty="0">
                <a:solidFill>
                  <a:srgbClr val="C8C8D0"/>
                </a:solidFill>
              </a:rPr>
              <a:t>[last report time] |   Author: [user.name]</a:t>
            </a:r>
            <a:endParaRPr sz="1400" dirty="0">
              <a:solidFill>
                <a:srgbClr val="C8C8D0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11E993F-3BA0-C65E-5EE7-D8C39B4B29E2}"/>
              </a:ext>
            </a:extLst>
          </p:cNvPr>
          <p:cNvSpPr/>
          <p:nvPr/>
        </p:nvSpPr>
        <p:spPr>
          <a:xfrm>
            <a:off x="3769145" y="1412699"/>
            <a:ext cx="3377952" cy="2150633"/>
          </a:xfrm>
          <a:prstGeom prst="rect">
            <a:avLst/>
          </a:prstGeom>
          <a:solidFill>
            <a:srgbClr val="16161F"/>
          </a:solidFill>
          <a:ln w="12700">
            <a:solidFill>
              <a:srgbClr val="2A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F85EAB2-2CF0-131D-F523-34050124ADCA}"/>
              </a:ext>
            </a:extLst>
          </p:cNvPr>
          <p:cNvSpPr txBox="1"/>
          <p:nvPr/>
        </p:nvSpPr>
        <p:spPr>
          <a:xfrm>
            <a:off x="4914567" y="1521690"/>
            <a:ext cx="134703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dirty="0">
                <a:solidFill>
                  <a:srgbClr val="00F6FF"/>
                </a:solidFill>
              </a:rPr>
              <a:t>Overall</a:t>
            </a:r>
            <a:r>
              <a:rPr lang="en-US" sz="1200" b="1" dirty="0">
                <a:solidFill>
                  <a:srgbClr val="00F6FF"/>
                </a:solidFill>
              </a:rPr>
              <a:t> Status</a:t>
            </a:r>
            <a:endParaRPr sz="1200" b="1" dirty="0">
              <a:solidFill>
                <a:srgbClr val="00F6FF"/>
              </a:solidFill>
            </a:endParaRPr>
          </a:p>
        </p:txBody>
      </p:sp>
      <p:sp>
        <p:nvSpPr>
          <p:cNvPr id="27" name="Rectangle 26" descr="Overall RAG Status">
            <a:extLst>
              <a:ext uri="{FF2B5EF4-FFF2-40B4-BE49-F238E27FC236}">
                <a16:creationId xmlns:a16="http://schemas.microsoft.com/office/drawing/2014/main" id="{5E6961F5-0480-6D10-D723-E042AE2824E3}"/>
              </a:ext>
            </a:extLst>
          </p:cNvPr>
          <p:cNvSpPr/>
          <p:nvPr/>
        </p:nvSpPr>
        <p:spPr>
          <a:xfrm>
            <a:off x="3992987" y="1875075"/>
            <a:ext cx="2956149" cy="804138"/>
          </a:xfrm>
          <a:prstGeom prst="rect">
            <a:avLst/>
          </a:prstGeom>
          <a:solidFill>
            <a:srgbClr val="FF7701"/>
          </a:solidFill>
          <a:ln>
            <a:solidFill>
              <a:srgbClr val="FF770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C921EF8-8E46-561C-98F8-507FC5B39796}"/>
              </a:ext>
            </a:extLst>
          </p:cNvPr>
          <p:cNvSpPr txBox="1"/>
          <p:nvPr/>
        </p:nvSpPr>
        <p:spPr>
          <a:xfrm>
            <a:off x="3981967" y="2879153"/>
            <a:ext cx="3089714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dirty="0">
                <a:solidFill>
                  <a:srgbClr val="FFFFFF"/>
                </a:solidFill>
              </a:rPr>
              <a:t>Score: [n.nn] / 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059A370-5A6B-005A-3E13-83F65419F2DA}"/>
              </a:ext>
            </a:extLst>
          </p:cNvPr>
          <p:cNvSpPr txBox="1"/>
          <p:nvPr/>
        </p:nvSpPr>
        <p:spPr>
          <a:xfrm>
            <a:off x="3974876" y="4255339"/>
            <a:ext cx="296807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FFFFFF"/>
                </a:solidFill>
              </a:defRPr>
            </a:pPr>
            <a:r>
              <a:rPr lang="en-US" sz="1200" dirty="0"/>
              <a:t>[General conclusions about project status]</a:t>
            </a:r>
            <a:endParaRPr sz="12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10226B7-2C89-3B8F-3C7C-F0372768BEDD}"/>
              </a:ext>
            </a:extLst>
          </p:cNvPr>
          <p:cNvSpPr txBox="1"/>
          <p:nvPr/>
        </p:nvSpPr>
        <p:spPr>
          <a:xfrm>
            <a:off x="8817108" y="1492610"/>
            <a:ext cx="131709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dirty="0">
                <a:solidFill>
                  <a:srgbClr val="00F6FF"/>
                </a:solidFill>
              </a:rPr>
              <a:t>Scores by group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DE5AAD6-B1A9-728E-A3AC-D09AF4B587AC}"/>
              </a:ext>
            </a:extLst>
          </p:cNvPr>
          <p:cNvSpPr txBox="1"/>
          <p:nvPr/>
        </p:nvSpPr>
        <p:spPr>
          <a:xfrm>
            <a:off x="4082768" y="1959924"/>
            <a:ext cx="2879645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500" b="1" dirty="0">
                <a:solidFill>
                  <a:srgbClr val="0B0B0F"/>
                </a:solidFill>
              </a:rPr>
              <a:t>[RAG STATUS]</a:t>
            </a:r>
            <a:endParaRPr sz="3500" b="1" dirty="0">
              <a:solidFill>
                <a:srgbClr val="0B0B0F"/>
              </a:solidFill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91E6C7E-6A21-AAE9-D914-18EFFD83A419}"/>
              </a:ext>
            </a:extLst>
          </p:cNvPr>
          <p:cNvSpPr txBox="1"/>
          <p:nvPr/>
        </p:nvSpPr>
        <p:spPr>
          <a:xfrm>
            <a:off x="4644694" y="3854610"/>
            <a:ext cx="150289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rgbClr val="00F6FF"/>
                </a:solidFill>
              </a:rPr>
              <a:t>General Conclusions</a:t>
            </a:r>
            <a:endParaRPr sz="1200" b="1" dirty="0">
              <a:solidFill>
                <a:srgbClr val="00F6FF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0DD7061-0D7E-FA72-66F5-BF90B4426A4F}"/>
              </a:ext>
            </a:extLst>
          </p:cNvPr>
          <p:cNvSpPr/>
          <p:nvPr/>
        </p:nvSpPr>
        <p:spPr>
          <a:xfrm>
            <a:off x="713021" y="1412699"/>
            <a:ext cx="2691646" cy="4860571"/>
          </a:xfrm>
          <a:prstGeom prst="rect">
            <a:avLst/>
          </a:prstGeom>
          <a:solidFill>
            <a:srgbClr val="16161F"/>
          </a:solidFill>
          <a:ln w="12700">
            <a:solidFill>
              <a:srgbClr val="2A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59AC130-1D21-1F75-487E-6BDBB1711F11}"/>
              </a:ext>
            </a:extLst>
          </p:cNvPr>
          <p:cNvSpPr txBox="1"/>
          <p:nvPr/>
        </p:nvSpPr>
        <p:spPr>
          <a:xfrm>
            <a:off x="888881" y="1507699"/>
            <a:ext cx="150289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rgbClr val="00F6FF"/>
                </a:solidFill>
              </a:rPr>
              <a:t>Project Facts</a:t>
            </a:r>
            <a:endParaRPr sz="1200" b="1" dirty="0">
              <a:solidFill>
                <a:srgbClr val="00F6FF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3BE3B3A-9A52-B636-9A58-0FC461B380D1}"/>
              </a:ext>
            </a:extLst>
          </p:cNvPr>
          <p:cNvSpPr txBox="1"/>
          <p:nvPr/>
        </p:nvSpPr>
        <p:spPr>
          <a:xfrm>
            <a:off x="809598" y="1800538"/>
            <a:ext cx="249506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rgbClr val="C8C8D0"/>
                </a:solidFill>
              </a:rPr>
              <a:t>[Project entry information]</a:t>
            </a:r>
          </a:p>
          <a:p>
            <a:r>
              <a:rPr lang="en-US" sz="1200" dirty="0">
                <a:solidFill>
                  <a:srgbClr val="C8C8D0"/>
                </a:solidFill>
              </a:rPr>
              <a:t>[Metrics types in scope]</a:t>
            </a:r>
            <a:endParaRPr sz="1200" dirty="0">
              <a:solidFill>
                <a:srgbClr val="C8C8D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077650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E9C8929-DFC4-444F-AC73-C33772A80E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DB5BFD2-EC68-E578-9181-E27E98A1A2D2}"/>
              </a:ext>
            </a:extLst>
          </p:cNvPr>
          <p:cNvSpPr txBox="1"/>
          <p:nvPr/>
        </p:nvSpPr>
        <p:spPr>
          <a:xfrm>
            <a:off x="548640" y="320040"/>
            <a:ext cx="4043864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2800" b="1" dirty="0">
                <a:solidFill>
                  <a:srgbClr val="FFFFFF"/>
                </a:solidFill>
              </a:rPr>
              <a:t>General Categories Scores</a:t>
            </a:r>
            <a:endParaRPr sz="2800" b="1" dirty="0">
              <a:solidFill>
                <a:srgbClr val="FFFFFF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16E36A7-E1AB-1E5E-8A26-74E9D41C4CA7}"/>
              </a:ext>
            </a:extLst>
          </p:cNvPr>
          <p:cNvSpPr/>
          <p:nvPr/>
        </p:nvSpPr>
        <p:spPr>
          <a:xfrm>
            <a:off x="629349" y="1384757"/>
            <a:ext cx="10933302" cy="4838243"/>
          </a:xfrm>
          <a:prstGeom prst="rect">
            <a:avLst/>
          </a:prstGeom>
          <a:solidFill>
            <a:srgbClr val="16161F"/>
          </a:solidFill>
          <a:ln w="12700">
            <a:solidFill>
              <a:srgbClr val="2A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Category Card 1" descr="Category Card"/>
          <p:cNvSpPr/>
          <p:nvPr/>
        </p:nvSpPr>
        <p:spPr>
          <a:xfrm>
            <a:off x="833238" y="2162009"/>
            <a:ext cx="5053523" cy="3032113"/>
          </a:xfrm>
          <a:prstGeom prst="rect">
            <a:avLst/>
          </a:prstGeom>
          <a:solidFill>
            <a:srgbClr val="161616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</p:spPr>
        <p:txBody>
          <a:bodyPr spcFirstLastPara="0" vert="horz" wrap="square" lIns="129540" tIns="129540" rIns="129540" bIns="129540" numCol="1" spcCol="1270" anchor="ctr" anchorCtr="0">
            <a:normAutofit fontScale="70000" lnSpcReduction="10000"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3400" b="1" kern="1200" dirty="0">
                <a:solidFill>
                  <a:srgbClr val="55E66F"/>
                </a:solidFill>
              </a:rPr>
              <a:t>[Group Metric 1]  ([n.nn]/3, [RAG STATUS])</a:t>
            </a:r>
          </a:p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2400" kern="1200" dirty="0">
                <a:solidFill>
                  <a:srgbClr val="FFFFFF"/>
                </a:solidFill>
              </a:rPr>
              <a:t>[Group Metric 1 General Conclusion]</a:t>
            </a:r>
          </a:p>
        </p:txBody>
      </p:sp>
      <p:sp>
        <p:nvSpPr>
          <p:cNvPr id="102" name="Category Card 2" descr="Category Card"/>
          <p:cNvSpPr/>
          <p:nvPr/>
        </p:nvSpPr>
        <p:spPr>
          <a:xfrm>
            <a:off x="6392114" y="2162009"/>
            <a:ext cx="5053523" cy="3032113"/>
          </a:xfrm>
          <a:prstGeom prst="rect">
            <a:avLst/>
          </a:prstGeom>
          <a:solidFill>
            <a:srgbClr val="161616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</p:spPr>
        <p:txBody>
          <a:bodyPr spcFirstLastPara="0" vert="horz" wrap="square" lIns="129540" tIns="129540" rIns="129540" bIns="129540" numCol="1" spcCol="1270" anchor="ctr" anchorCtr="0">
            <a:normAutofit fontScale="70000" lnSpcReduction="10000"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3400" b="1" kern="1200" dirty="0">
                <a:solidFill>
                  <a:srgbClr val="55E66F"/>
                </a:solidFill>
              </a:rPr>
              <a:t>[Group Metric N]  ([n.nn]/3, [RAG STATUS])</a:t>
            </a:r>
          </a:p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2400" kern="1200" dirty="0">
                <a:solidFill>
                  <a:srgbClr val="FFFFFF"/>
                </a:solidFill>
              </a:rPr>
              <a:t>[Group Metric N General Conclusion]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F4837DA-970B-A2F0-3E07-296E832C2283}"/>
              </a:ext>
            </a:extLst>
          </p:cNvPr>
          <p:cNvSpPr txBox="1"/>
          <p:nvPr/>
        </p:nvSpPr>
        <p:spPr>
          <a:xfrm>
            <a:off x="548640" y="960120"/>
            <a:ext cx="845475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dirty="0">
                <a:solidFill>
                  <a:srgbClr val="C8C8D0"/>
                </a:solidFill>
              </a:rPr>
              <a:t>Reporting period: </a:t>
            </a:r>
            <a:r>
              <a:rPr lang="en-US" sz="1400" dirty="0">
                <a:solidFill>
                  <a:srgbClr val="C8C8D0"/>
                </a:solidFill>
              </a:rPr>
              <a:t>[Reporting Period]</a:t>
            </a:r>
            <a:r>
              <a:rPr sz="1400" dirty="0">
                <a:solidFill>
                  <a:srgbClr val="C8C8D0"/>
                </a:solidFill>
              </a:rPr>
              <a:t>  |   </a:t>
            </a:r>
            <a:r>
              <a:rPr lang="en-US" sz="1400" dirty="0">
                <a:solidFill>
                  <a:srgbClr val="C8C8D0"/>
                </a:solidFill>
              </a:rPr>
              <a:t>A</a:t>
            </a:r>
            <a:r>
              <a:rPr sz="1400" dirty="0">
                <a:solidFill>
                  <a:srgbClr val="C8C8D0"/>
                </a:solidFill>
              </a:rPr>
              <a:t>ssessment</a:t>
            </a:r>
            <a:r>
              <a:rPr lang="en-US" sz="1400" dirty="0">
                <a:solidFill>
                  <a:srgbClr val="C8C8D0"/>
                </a:solidFill>
              </a:rPr>
              <a:t> Date and Time</a:t>
            </a:r>
            <a:r>
              <a:rPr sz="1400" dirty="0">
                <a:solidFill>
                  <a:srgbClr val="C8C8D0"/>
                </a:solidFill>
              </a:rPr>
              <a:t>: </a:t>
            </a:r>
            <a:r>
              <a:rPr lang="en-US" sz="1400" dirty="0">
                <a:solidFill>
                  <a:srgbClr val="C8C8D0"/>
                </a:solidFill>
              </a:rPr>
              <a:t>[last report time] |   Author: [user.name]</a:t>
            </a:r>
            <a:endParaRPr sz="1400" dirty="0">
              <a:solidFill>
                <a:srgbClr val="C8C8D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508134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24936"/>
            <a:ext cx="12188952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6916EE9-65B3-62B9-05A9-054B016DE0A2}"/>
              </a:ext>
            </a:extLst>
          </p:cNvPr>
          <p:cNvSpPr/>
          <p:nvPr/>
        </p:nvSpPr>
        <p:spPr>
          <a:xfrm>
            <a:off x="783167" y="1496908"/>
            <a:ext cx="4675293" cy="4802295"/>
          </a:xfrm>
          <a:prstGeom prst="rect">
            <a:avLst/>
          </a:prstGeom>
          <a:solidFill>
            <a:srgbClr val="16161F"/>
          </a:solidFill>
          <a:ln w="12700">
            <a:solidFill>
              <a:srgbClr val="2A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414733"/>
            <a:ext cx="1115568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dirty="0">
                <a:solidFill>
                  <a:srgbClr val="FFFFFF"/>
                </a:solidFill>
                <a:latin typeface="Arial"/>
              </a:rPr>
              <a:t>Top 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5 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Items (Cross-group)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57CDBFE-6385-148B-A61D-76C38E6F43B0}"/>
              </a:ext>
            </a:extLst>
          </p:cNvPr>
          <p:cNvSpPr txBox="1"/>
          <p:nvPr/>
        </p:nvSpPr>
        <p:spPr>
          <a:xfrm>
            <a:off x="1125220" y="2234251"/>
            <a:ext cx="4150360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dirty="0">
                <a:solidFill>
                  <a:srgbClr val="FFFFFF"/>
                </a:solidFill>
                <a:latin typeface="Arial"/>
              </a:rPr>
              <a:t>1. [TOP_RED_1_GROUP] — [TOP_RED_1_ITEM] (Why: [TOP_RED_1_WHY])</a:t>
            </a:r>
          </a:p>
          <a:p>
            <a:pPr algn="l"/>
            <a:r>
              <a:rPr sz="1200" b="0" dirty="0">
                <a:solidFill>
                  <a:srgbClr val="FFFFFF"/>
                </a:solidFill>
                <a:latin typeface="Arial"/>
              </a:rPr>
              <a:t>   Action: [TOP_RED_1_ACTION]</a:t>
            </a:r>
          </a:p>
          <a:p>
            <a:r>
              <a:rPr sz="1200" b="0" dirty="0">
                <a:solidFill>
                  <a:srgbClr val="FFFFFF"/>
                </a:solidFill>
                <a:latin typeface="Arial"/>
              </a:rPr>
              <a:t>2. [TOP_RED_2_GROUP] — [TOP_RED_2_ITEM] (Why: [TOP_RED_2_WHY])</a:t>
            </a:r>
          </a:p>
          <a:p>
            <a:r>
              <a:rPr sz="1200" b="0" dirty="0">
                <a:solidFill>
                  <a:srgbClr val="FFFFFF"/>
                </a:solidFill>
                <a:latin typeface="Arial"/>
              </a:rPr>
              <a:t>   Action: [TOP_RED_2_ACTION]</a:t>
            </a:r>
          </a:p>
          <a:p>
            <a:r>
              <a:rPr sz="1200" b="0" dirty="0">
                <a:solidFill>
                  <a:srgbClr val="FFFFFF"/>
                </a:solidFill>
                <a:latin typeface="Arial"/>
              </a:rPr>
              <a:t>3. [TOP_RED_3_GROUP] — [TOP_RED_3_ITEM] (Why: [TOP_RED_3_WHY])</a:t>
            </a:r>
          </a:p>
          <a:p>
            <a:r>
              <a:rPr sz="1200" b="0" dirty="0">
                <a:solidFill>
                  <a:srgbClr val="FFFFFF"/>
                </a:solidFill>
                <a:latin typeface="Arial"/>
              </a:rPr>
              <a:t>   Action: [TOP_RED_3_ACTION]</a:t>
            </a:r>
          </a:p>
          <a:p>
            <a:r>
              <a:rPr sz="1200" b="0" dirty="0">
                <a:solidFill>
                  <a:srgbClr val="FFFFFF"/>
                </a:solidFill>
                <a:latin typeface="Arial"/>
              </a:rPr>
              <a:t>4. [TOP_RED_4_GROUP] — [TOP_RED_4_ITEM] (Why: [TOP_RED_4_WHY])</a:t>
            </a:r>
          </a:p>
          <a:p>
            <a:r>
              <a:rPr sz="1200" b="0" dirty="0">
                <a:solidFill>
                  <a:srgbClr val="FFFFFF"/>
                </a:solidFill>
                <a:latin typeface="Arial"/>
              </a:rPr>
              <a:t>   Action: [TOP_RED_4_ACTION]</a:t>
            </a:r>
          </a:p>
          <a:p>
            <a:r>
              <a:rPr sz="1200" b="0" dirty="0">
                <a:solidFill>
                  <a:srgbClr val="FFFFFF"/>
                </a:solidFill>
                <a:latin typeface="Arial"/>
              </a:rPr>
              <a:t>5. [TOP_RED_5_GROUP] — [TOP_RED_5_ITEM] (Why: [TOP_RED_5_WHY])</a:t>
            </a:r>
          </a:p>
          <a:p>
            <a:r>
              <a:rPr sz="1200" b="0" dirty="0">
                <a:solidFill>
                  <a:srgbClr val="FFFFFF"/>
                </a:solidFill>
                <a:latin typeface="Arial"/>
              </a:rPr>
              <a:t>   Action: [TOP_RED_5_ACTION]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5700FFA-EE9E-C37C-C994-A5630E2E968B}"/>
              </a:ext>
            </a:extLst>
          </p:cNvPr>
          <p:cNvSpPr/>
          <p:nvPr/>
        </p:nvSpPr>
        <p:spPr>
          <a:xfrm>
            <a:off x="6400800" y="1496910"/>
            <a:ext cx="5491480" cy="4802294"/>
          </a:xfrm>
          <a:prstGeom prst="rect">
            <a:avLst/>
          </a:prstGeom>
          <a:solidFill>
            <a:srgbClr val="16161F"/>
          </a:solidFill>
          <a:ln w="12700">
            <a:solidFill>
              <a:srgbClr val="2A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689DEF7-8350-639B-711D-9514B476136A}"/>
              </a:ext>
            </a:extLst>
          </p:cNvPr>
          <p:cNvSpPr txBox="1"/>
          <p:nvPr/>
        </p:nvSpPr>
        <p:spPr>
          <a:xfrm>
            <a:off x="6720840" y="2219785"/>
            <a:ext cx="4663440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rgbClr val="FFFFFF"/>
                </a:solidFill>
                <a:latin typeface="Arial"/>
              </a:rPr>
              <a:t>1. [TOP_AMBER_1_GROUP] — [TOP_AMBER_1_ITEM] (Why: [TOP_AMBER_1_WHY])</a:t>
            </a:r>
          </a:p>
          <a:p>
            <a:r>
              <a:rPr lang="en-US" sz="1200" dirty="0">
                <a:solidFill>
                  <a:srgbClr val="FFFFFF"/>
                </a:solidFill>
                <a:latin typeface="Arial"/>
              </a:rPr>
              <a:t>   Action: [TOP_AMBER_1_ACTION]</a:t>
            </a:r>
          </a:p>
          <a:p>
            <a:r>
              <a:rPr lang="en-US" sz="1200" dirty="0">
                <a:solidFill>
                  <a:srgbClr val="FFFFFF"/>
                </a:solidFill>
                <a:latin typeface="Arial"/>
              </a:rPr>
              <a:t>2. [TOP_AMBER_2_GROUP] — [TOP_AMBER_2_ITEM] (Why: [TOP_AMBER_2_WHY])</a:t>
            </a:r>
          </a:p>
          <a:p>
            <a:r>
              <a:rPr lang="en-US" sz="1200" dirty="0">
                <a:solidFill>
                  <a:srgbClr val="FFFFFF"/>
                </a:solidFill>
                <a:latin typeface="Arial"/>
              </a:rPr>
              <a:t>   Action: [TOP_AMBER_2_ACTION]</a:t>
            </a:r>
          </a:p>
          <a:p>
            <a:r>
              <a:rPr lang="en-US" sz="1200" dirty="0">
                <a:solidFill>
                  <a:srgbClr val="FFFFFF"/>
                </a:solidFill>
                <a:latin typeface="Arial"/>
              </a:rPr>
              <a:t>3. [TOP_AMBER_3_GROUP] — [TOP_AMBER_3_ITEM] (Why: [TOP_AMBER_3_WHY])</a:t>
            </a:r>
          </a:p>
          <a:p>
            <a:r>
              <a:rPr lang="en-US" sz="1200" dirty="0">
                <a:solidFill>
                  <a:srgbClr val="FFFFFF"/>
                </a:solidFill>
                <a:latin typeface="Arial"/>
              </a:rPr>
              <a:t>   Action: [TOP_AMBER_3_ACTION]</a:t>
            </a:r>
          </a:p>
          <a:p>
            <a:r>
              <a:rPr lang="en-US" sz="1200" dirty="0">
                <a:solidFill>
                  <a:srgbClr val="FFFFFF"/>
                </a:solidFill>
                <a:latin typeface="Arial"/>
              </a:rPr>
              <a:t>4. [TOP_AMBER_4_GROUP] — [TOP_AMBER_4_ITEM] (Why: [TOP_AMBER_4_WHY])</a:t>
            </a:r>
          </a:p>
          <a:p>
            <a:r>
              <a:rPr lang="en-US" sz="1200" dirty="0">
                <a:solidFill>
                  <a:srgbClr val="FFFFFF"/>
                </a:solidFill>
                <a:latin typeface="Arial"/>
              </a:rPr>
              <a:t>   Action: [TOP_AMBER_4_ACTION]</a:t>
            </a:r>
          </a:p>
          <a:p>
            <a:r>
              <a:rPr lang="en-US" sz="1200" dirty="0">
                <a:solidFill>
                  <a:srgbClr val="FFFFFF"/>
                </a:solidFill>
                <a:latin typeface="Arial"/>
              </a:rPr>
              <a:t>5. [TOP_AMBER_5_GROUP] — [TOP_AMBER_5_ITEM] (Why: [TOP_AMBER_5_WHY])</a:t>
            </a:r>
          </a:p>
          <a:p>
            <a:r>
              <a:rPr lang="en-US" sz="1200" dirty="0">
                <a:solidFill>
                  <a:srgbClr val="FFFFFF"/>
                </a:solidFill>
                <a:latin typeface="Arial"/>
              </a:rPr>
              <a:t>   Action: [TOP_AMBER_5_ACTION]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2237FC2-8F50-D579-FC0E-05C20B1A04E7}"/>
              </a:ext>
            </a:extLst>
          </p:cNvPr>
          <p:cNvSpPr/>
          <p:nvPr/>
        </p:nvSpPr>
        <p:spPr bwMode="auto">
          <a:xfrm>
            <a:off x="1143508" y="1752840"/>
            <a:ext cx="2431796" cy="332399"/>
          </a:xfrm>
          <a:prstGeom prst="rect">
            <a:avLst/>
          </a:prstGeom>
          <a:solidFill>
            <a:srgbClr val="FF0000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  <a:latin typeface="Arial"/>
              </a:rPr>
              <a:t>Top RED (immediate:</a:t>
            </a:r>
            <a:endParaRPr lang="en-US" sz="1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83F47CD-1C06-A37C-BD1D-878893EB8A92}"/>
              </a:ext>
            </a:extLst>
          </p:cNvPr>
          <p:cNvSpPr/>
          <p:nvPr/>
        </p:nvSpPr>
        <p:spPr bwMode="auto">
          <a:xfrm>
            <a:off x="6766814" y="1738373"/>
            <a:ext cx="2578354" cy="332399"/>
          </a:xfrm>
          <a:prstGeom prst="rect">
            <a:avLst/>
          </a:prstGeom>
          <a:solidFill>
            <a:srgbClr val="FF770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  <a:latin typeface="Arial"/>
              </a:rPr>
              <a:t>Top AMBER (needs attention):</a:t>
            </a:r>
            <a:endParaRPr lang="en-US" sz="1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D38B2F-A595-8807-4135-C790518001BD}"/>
              </a:ext>
            </a:extLst>
          </p:cNvPr>
          <p:cNvSpPr txBox="1"/>
          <p:nvPr/>
        </p:nvSpPr>
        <p:spPr>
          <a:xfrm>
            <a:off x="548640" y="960120"/>
            <a:ext cx="845475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dirty="0">
                <a:solidFill>
                  <a:srgbClr val="C8C8D0"/>
                </a:solidFill>
              </a:rPr>
              <a:t>Reporting period: </a:t>
            </a:r>
            <a:r>
              <a:rPr lang="en-US" sz="1400" dirty="0">
                <a:solidFill>
                  <a:srgbClr val="C8C8D0"/>
                </a:solidFill>
              </a:rPr>
              <a:t>[Reporting Period]</a:t>
            </a:r>
            <a:r>
              <a:rPr sz="1400" dirty="0">
                <a:solidFill>
                  <a:srgbClr val="C8C8D0"/>
                </a:solidFill>
              </a:rPr>
              <a:t>  |   </a:t>
            </a:r>
            <a:r>
              <a:rPr lang="en-US" sz="1400" dirty="0">
                <a:solidFill>
                  <a:srgbClr val="C8C8D0"/>
                </a:solidFill>
              </a:rPr>
              <a:t>A</a:t>
            </a:r>
            <a:r>
              <a:rPr sz="1400" dirty="0">
                <a:solidFill>
                  <a:srgbClr val="C8C8D0"/>
                </a:solidFill>
              </a:rPr>
              <a:t>ssessment</a:t>
            </a:r>
            <a:r>
              <a:rPr lang="en-US" sz="1400" dirty="0">
                <a:solidFill>
                  <a:srgbClr val="C8C8D0"/>
                </a:solidFill>
              </a:rPr>
              <a:t> Date and Time</a:t>
            </a:r>
            <a:r>
              <a:rPr sz="1400" dirty="0">
                <a:solidFill>
                  <a:srgbClr val="C8C8D0"/>
                </a:solidFill>
              </a:rPr>
              <a:t>: </a:t>
            </a:r>
            <a:r>
              <a:rPr lang="en-US" sz="1400" dirty="0">
                <a:solidFill>
                  <a:srgbClr val="C8C8D0"/>
                </a:solidFill>
              </a:rPr>
              <a:t>[last report time] |   Author: [user.name]</a:t>
            </a:r>
            <a:endParaRPr sz="1400" dirty="0">
              <a:solidFill>
                <a:srgbClr val="C8C8D0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B14D6E-FDFE-AEB9-3E7B-647E6EE769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2A82E1EF-2CCD-604A-FB49-FD9A7969C04A}"/>
              </a:ext>
            </a:extLst>
          </p:cNvPr>
          <p:cNvSpPr/>
          <p:nvPr/>
        </p:nvSpPr>
        <p:spPr>
          <a:xfrm>
            <a:off x="548640" y="1417320"/>
            <a:ext cx="5394960" cy="2377440"/>
          </a:xfrm>
          <a:prstGeom prst="rect">
            <a:avLst/>
          </a:prstGeom>
          <a:solidFill>
            <a:srgbClr val="16161F"/>
          </a:solidFill>
          <a:ln w="12700">
            <a:solidFill>
              <a:srgbClr val="2A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9E3F4AC-DE7B-F8CE-132B-9C412219AA7E}"/>
              </a:ext>
            </a:extLst>
          </p:cNvPr>
          <p:cNvSpPr/>
          <p:nvPr/>
        </p:nvSpPr>
        <p:spPr>
          <a:xfrm>
            <a:off x="548640" y="3977639"/>
            <a:ext cx="5394960" cy="2560320"/>
          </a:xfrm>
          <a:prstGeom prst="rect">
            <a:avLst/>
          </a:prstGeom>
          <a:solidFill>
            <a:srgbClr val="16161F"/>
          </a:solidFill>
          <a:ln w="12700">
            <a:solidFill>
              <a:srgbClr val="2A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68B28B5-4720-8F0C-479C-F81F7225D744}"/>
              </a:ext>
            </a:extLst>
          </p:cNvPr>
          <p:cNvSpPr txBox="1"/>
          <p:nvPr/>
        </p:nvSpPr>
        <p:spPr>
          <a:xfrm>
            <a:off x="548640" y="320040"/>
            <a:ext cx="484902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2800" b="1" dirty="0">
                <a:solidFill>
                  <a:srgbClr val="FFFFFF"/>
                </a:solidFill>
              </a:rPr>
              <a:t>G[N]</a:t>
            </a:r>
            <a:r>
              <a:rPr sz="2800" b="1" dirty="0">
                <a:solidFill>
                  <a:srgbClr val="FFFFFF"/>
                </a:solidFill>
              </a:rPr>
              <a:t> — </a:t>
            </a:r>
            <a:r>
              <a:rPr lang="en-US" sz="2800" b="1" dirty="0">
                <a:solidFill>
                  <a:srgbClr val="FFFFFF"/>
                </a:solidFill>
              </a:rPr>
              <a:t>[Group Metric name N]</a:t>
            </a:r>
            <a:endParaRPr sz="2800" b="1" dirty="0">
              <a:solidFill>
                <a:srgbClr val="FFFFFF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8BDA4A0-1607-8B4A-F5BB-3FE26F3F6F53}"/>
              </a:ext>
            </a:extLst>
          </p:cNvPr>
          <p:cNvSpPr txBox="1"/>
          <p:nvPr/>
        </p:nvSpPr>
        <p:spPr>
          <a:xfrm>
            <a:off x="548640" y="960120"/>
            <a:ext cx="3071097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dirty="0">
                <a:solidFill>
                  <a:srgbClr val="C8C8D0"/>
                </a:solidFill>
              </a:rPr>
              <a:t>Score: [n.nn] / 3   |   RAG: [RAG STATUS]</a:t>
            </a:r>
          </a:p>
        </p:txBody>
      </p:sp>
      <p:sp>
        <p:nvSpPr>
          <p:cNvPr id="4" name="Rectangle 3" descr="RAG Status Box">
            <a:extLst>
              <a:ext uri="{FF2B5EF4-FFF2-40B4-BE49-F238E27FC236}">
                <a16:creationId xmlns:a16="http://schemas.microsoft.com/office/drawing/2014/main" id="{0BB17645-CC5B-ADB8-ED90-23DE2C861C01}"/>
              </a:ext>
            </a:extLst>
          </p:cNvPr>
          <p:cNvSpPr/>
          <p:nvPr/>
        </p:nvSpPr>
        <p:spPr>
          <a:xfrm>
            <a:off x="10152110" y="389279"/>
            <a:ext cx="1463040" cy="457200"/>
          </a:xfrm>
          <a:prstGeom prst="rect">
            <a:avLst/>
          </a:prstGeom>
          <a:solidFill>
            <a:srgbClr val="55E66F"/>
          </a:solidFill>
          <a:ln>
            <a:solidFill>
              <a:srgbClr val="55E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D24A98-8F05-1A04-2978-35EE4293E2A0}"/>
              </a:ext>
            </a:extLst>
          </p:cNvPr>
          <p:cNvSpPr txBox="1"/>
          <p:nvPr/>
        </p:nvSpPr>
        <p:spPr>
          <a:xfrm>
            <a:off x="10284885" y="457010"/>
            <a:ext cx="1263487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1600" b="1" dirty="0">
                <a:solidFill>
                  <a:srgbClr val="0B0B0F"/>
                </a:solidFill>
              </a:rPr>
              <a:t>[RAG Status]</a:t>
            </a:r>
            <a:endParaRPr sz="1600" b="1" dirty="0">
              <a:solidFill>
                <a:srgbClr val="0B0B0F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DE7733-37FF-062C-A580-CE04C748B2A1}"/>
              </a:ext>
            </a:extLst>
          </p:cNvPr>
          <p:cNvSpPr/>
          <p:nvPr/>
        </p:nvSpPr>
        <p:spPr>
          <a:xfrm>
            <a:off x="6126480" y="1417320"/>
            <a:ext cx="5513832" cy="2377440"/>
          </a:xfrm>
          <a:prstGeom prst="rect">
            <a:avLst/>
          </a:prstGeom>
          <a:solidFill>
            <a:srgbClr val="16161F"/>
          </a:solidFill>
          <a:ln w="12700">
            <a:solidFill>
              <a:srgbClr val="2A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16F1DA6-2A60-A4EC-3279-9D9E3185E0BE}"/>
              </a:ext>
            </a:extLst>
          </p:cNvPr>
          <p:cNvSpPr txBox="1"/>
          <p:nvPr/>
        </p:nvSpPr>
        <p:spPr>
          <a:xfrm>
            <a:off x="822960" y="4218043"/>
            <a:ext cx="1340432" cy="276999"/>
          </a:xfrm>
          <a:prstGeom prst="rect">
            <a:avLst/>
          </a:prstGeom>
          <a:solidFill>
            <a:srgbClr val="FF0000"/>
          </a:solidFill>
        </p:spPr>
        <p:txBody>
          <a:bodyPr wrap="none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CRITICAL FINDING</a:t>
            </a:r>
            <a:endParaRPr sz="1200" b="1" dirty="0">
              <a:solidFill>
                <a:schemeClr val="bg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BEA60BC-A198-39EA-A944-505ADCA67E0B}"/>
              </a:ext>
            </a:extLst>
          </p:cNvPr>
          <p:cNvSpPr txBox="1"/>
          <p:nvPr/>
        </p:nvSpPr>
        <p:spPr>
          <a:xfrm>
            <a:off x="777240" y="4675243"/>
            <a:ext cx="50749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FFFFF"/>
                </a:solidFill>
              </a:defRPr>
            </a:pPr>
            <a:r>
              <a:rPr lang="en-US" dirty="0"/>
              <a:t>[List of RED Findings with some recommendations]</a:t>
            </a:r>
            <a:endParaRPr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C9E8739-44FF-22EB-6A62-DE37CFD89613}"/>
              </a:ext>
            </a:extLst>
          </p:cNvPr>
          <p:cNvSpPr txBox="1"/>
          <p:nvPr/>
        </p:nvSpPr>
        <p:spPr>
          <a:xfrm>
            <a:off x="777240" y="1619180"/>
            <a:ext cx="2259336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dirty="0">
                <a:solidFill>
                  <a:srgbClr val="00F6FF"/>
                </a:solidFill>
              </a:rPr>
              <a:t>Conclusion </a:t>
            </a:r>
            <a:r>
              <a:rPr lang="en-US" sz="1200" b="1" dirty="0">
                <a:solidFill>
                  <a:srgbClr val="00F6FF"/>
                </a:solidFill>
              </a:rPr>
              <a:t>&amp; Recommendations</a:t>
            </a:r>
            <a:endParaRPr sz="1200" b="1" dirty="0">
              <a:solidFill>
                <a:srgbClr val="00F6FF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DF81810-FF07-727E-0F67-EA1AEC3AD62F}"/>
              </a:ext>
            </a:extLst>
          </p:cNvPr>
          <p:cNvSpPr txBox="1"/>
          <p:nvPr/>
        </p:nvSpPr>
        <p:spPr>
          <a:xfrm>
            <a:off x="777240" y="1847781"/>
            <a:ext cx="51206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FFFFF"/>
                </a:solidFill>
              </a:defRPr>
            </a:pPr>
            <a:r>
              <a:rPr lang="en-US" dirty="0"/>
              <a:t>[General Conclusion on this metrics category and key recommendations] </a:t>
            </a:r>
            <a:endParaRPr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9AE32D8-0530-93B2-DD0B-F9B692CB65B0}"/>
              </a:ext>
            </a:extLst>
          </p:cNvPr>
          <p:cNvSpPr/>
          <p:nvPr/>
        </p:nvSpPr>
        <p:spPr>
          <a:xfrm>
            <a:off x="6126480" y="3977639"/>
            <a:ext cx="5513832" cy="2560320"/>
          </a:xfrm>
          <a:prstGeom prst="rect">
            <a:avLst/>
          </a:prstGeom>
          <a:solidFill>
            <a:srgbClr val="16161F"/>
          </a:solidFill>
          <a:ln w="12700">
            <a:solidFill>
              <a:srgbClr val="2A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23A448A-7636-5A7E-9BEB-4650CDC228A0}"/>
              </a:ext>
            </a:extLst>
          </p:cNvPr>
          <p:cNvSpPr txBox="1"/>
          <p:nvPr/>
        </p:nvSpPr>
        <p:spPr>
          <a:xfrm>
            <a:off x="6372519" y="4218043"/>
            <a:ext cx="1247457" cy="276999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txBody>
          <a:bodyPr wrap="none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AMBER FINDING</a:t>
            </a:r>
            <a:endParaRPr sz="1200" b="1" dirty="0">
              <a:solidFill>
                <a:schemeClr val="bg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FE2BCC0-31EA-4A86-6DC7-8CD64F600E11}"/>
              </a:ext>
            </a:extLst>
          </p:cNvPr>
          <p:cNvSpPr txBox="1"/>
          <p:nvPr/>
        </p:nvSpPr>
        <p:spPr>
          <a:xfrm>
            <a:off x="6326799" y="4675243"/>
            <a:ext cx="50749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FFFFF"/>
                </a:solidFill>
              </a:defRPr>
            </a:pPr>
            <a:r>
              <a:rPr lang="en-US" dirty="0"/>
              <a:t>[List of AMBER Findings with some recommendations]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15E1FEB-C253-66A3-13ED-A8A896449369}"/>
              </a:ext>
            </a:extLst>
          </p:cNvPr>
          <p:cNvSpPr txBox="1"/>
          <p:nvPr/>
        </p:nvSpPr>
        <p:spPr>
          <a:xfrm>
            <a:off x="6300216" y="1539003"/>
            <a:ext cx="4937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0F6FF"/>
                </a:solidFill>
              </a:rPr>
              <a:t>Key data</a:t>
            </a:r>
          </a:p>
        </p:txBody>
      </p:sp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C22669FE-A7B9-2838-1241-7B81E7C566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5270760"/>
              </p:ext>
            </p:extLst>
          </p:nvPr>
        </p:nvGraphicFramePr>
        <p:xfrm>
          <a:off x="6300216" y="1848883"/>
          <a:ext cx="4937760" cy="1926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19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157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4903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F6FF"/>
                          </a:solidFill>
                        </a:rPr>
                        <a:t>Key data</a:t>
                      </a:r>
                    </a:p>
                  </a:txBody>
                  <a:tcPr>
                    <a:solidFill>
                      <a:srgbClr val="1F1F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F6FF"/>
                          </a:solidFill>
                        </a:rPr>
                        <a:t>Value</a:t>
                      </a:r>
                    </a:p>
                  </a:txBody>
                  <a:tcPr>
                    <a:solidFill>
                      <a:srgbClr val="1F1F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4903">
                <a:tc>
                  <a:txBody>
                    <a:bodyPr/>
                    <a:lstStyle/>
                    <a:p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[Key data name 1]</a:t>
                      </a:r>
                      <a:endParaRPr sz="1100" dirty="0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616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[Key data name 1]</a:t>
                      </a:r>
                      <a:endParaRPr sz="1100" dirty="0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6161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4903">
                <a:tc>
                  <a:txBody>
                    <a:bodyPr/>
                    <a:lstStyle/>
                    <a:p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[Key data name N]</a:t>
                      </a:r>
                      <a:endParaRPr sz="1100" dirty="0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616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[Key data name N]</a:t>
                      </a:r>
                      <a:endParaRPr sz="1100" dirty="0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6161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490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[Key data name N+1]</a:t>
                      </a:r>
                    </a:p>
                    <a:p>
                      <a:endParaRPr sz="1100" dirty="0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6161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[Key data name N+1]</a:t>
                      </a:r>
                    </a:p>
                  </a:txBody>
                  <a:tcPr>
                    <a:solidFill>
                      <a:srgbClr val="16161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490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[Key data name N+2]</a:t>
                      </a:r>
                    </a:p>
                  </a:txBody>
                  <a:tcPr>
                    <a:solidFill>
                      <a:srgbClr val="16161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[Key data name N+2]</a:t>
                      </a:r>
                    </a:p>
                  </a:txBody>
                  <a:tcPr>
                    <a:solidFill>
                      <a:srgbClr val="16161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93321489"/>
      </p:ext>
    </p:extLst>
  </p:cSld>
  <p:clrMapOvr>
    <a:masterClrMapping/>
  </p:clrMapOvr>
</p:sld>
</file>

<file path=ppt/theme/theme1.xml><?xml version="1.0" encoding="utf-8"?>
<a:theme xmlns:a="http://schemas.openxmlformats.org/drawingml/2006/main" name="EPAM Master Dark 2023.1">
  <a:themeElements>
    <a:clrScheme name="EPAM Dark Palette">
      <a:dk1>
        <a:srgbClr val="000000"/>
      </a:dk1>
      <a:lt1>
        <a:srgbClr val="FFFFFF"/>
      </a:lt1>
      <a:dk2>
        <a:srgbClr val="A0A0A0"/>
      </a:dk2>
      <a:lt2>
        <a:srgbClr val="FBFAFA"/>
      </a:lt2>
      <a:accent1>
        <a:srgbClr val="161616"/>
      </a:accent1>
      <a:accent2>
        <a:srgbClr val="00F6FF"/>
      </a:accent2>
      <a:accent3>
        <a:srgbClr val="B896FF"/>
      </a:accent3>
      <a:accent4>
        <a:srgbClr val="7BA8FF"/>
      </a:accent4>
      <a:accent5>
        <a:srgbClr val="418DFF"/>
      </a:accent5>
      <a:accent6>
        <a:srgbClr val="00F3AB"/>
      </a:accent6>
      <a:hlink>
        <a:srgbClr val="060606"/>
      </a:hlink>
      <a:folHlink>
        <a:srgbClr val="000000"/>
      </a:folHlink>
    </a:clrScheme>
    <a:fontScheme name="EPAM">
      <a:majorFont>
        <a:latin typeface="Calibri Bold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</a:ln>
        <a:effectLst/>
      </a:spPr>
      <a:bodyPr wrap="none" rtlCol="0" anchor="ctr"/>
      <a:lstStyle>
        <a:defPPr algn="ctr">
          <a:defRPr sz="2400" dirty="0" err="1" smtClean="0">
            <a:solidFill>
              <a:schemeClr val="bg1"/>
            </a:solidFill>
            <a:latin typeface="Calibri Light" panose="020F0302020204030204" pitchFamily="34" charset="0"/>
            <a:ea typeface="Human Sans ExtraLight" charset="0"/>
            <a:cs typeface="Human Sans ExtraLight" charset="0"/>
          </a:defRPr>
        </a:defPPr>
      </a:lstStyle>
    </a:spDef>
    <a:lnDef>
      <a:spPr>
        <a:ln w="6350"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>
          <a:lnSpc>
            <a:spcPct val="110000"/>
          </a:lnSpc>
          <a:spcBef>
            <a:spcPts val="600"/>
          </a:spcBef>
          <a:defRPr sz="1200" dirty="0" err="1" smtClean="0">
            <a:ea typeface="Human Sans" charset="0"/>
            <a:cs typeface="Human Sans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Continuum_Master_v1.1" id="{D2F91407-39AD-2344-8F42-01B4155FF2FD}" vid="{09F1F252-BD3A-0A45-9F6B-518524EA322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1321</TotalTime>
  <Words>772</Words>
  <Application>Microsoft Office PowerPoint</Application>
  <PresentationFormat>Widescreen</PresentationFormat>
  <Paragraphs>61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Calibri Light</vt:lpstr>
      <vt:lpstr>Courier New</vt:lpstr>
      <vt:lpstr>EPAM Master Dark 2023.1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Volodymyr Prymakov</dc:creator>
  <cp:keywords/>
  <dc:description>generated using python-pptx</dc:description>
  <cp:lastModifiedBy>Volodymyr Prymakov</cp:lastModifiedBy>
  <cp:revision>11</cp:revision>
  <dcterms:created xsi:type="dcterms:W3CDTF">2013-01-27T09:14:16Z</dcterms:created>
  <dcterms:modified xsi:type="dcterms:W3CDTF">2026-08-07T17:29:33Z</dcterms:modified>
  <cp:category/>
</cp:coreProperties>
</file>