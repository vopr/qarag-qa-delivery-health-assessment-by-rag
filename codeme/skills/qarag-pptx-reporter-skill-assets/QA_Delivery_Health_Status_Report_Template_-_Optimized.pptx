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2" r:id="rId2"/>
    <p:sldId id="267" r:id="rId3"/>
    <p:sldId id="266" r:id="rId4"/>
    <p:sldId id="264" r:id="rId5"/>
    <p:sldId id="26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701"/>
    <a:srgbClr val="DEA900"/>
    <a:srgbClr val="FFCC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5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8331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0713" y="717613"/>
            <a:ext cx="1096568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14E4D-CAE3-3A0B-B3F8-465622E4D6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C1CD2-C3C3-99BC-1F71-5CF176EF164E}"/>
              </a:ext>
            </a:extLst>
          </p:cNvPr>
          <p:cNvSpPr txBox="1"/>
          <p:nvPr userDrawn="1"/>
        </p:nvSpPr>
        <p:spPr>
          <a:xfrm>
            <a:off x="-579120" y="45923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DDA9FD-D621-0134-9699-89AED709AC96}"/>
              </a:ext>
            </a:extLst>
          </p:cNvPr>
          <p:cNvSpPr txBox="1"/>
          <p:nvPr userDrawn="1"/>
        </p:nvSpPr>
        <p:spPr>
          <a:xfrm>
            <a:off x="4429760" y="-538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7453A-FF25-1748-B091-91F29105A245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3E5B4CB-0A41-3758-17D3-77CB4387DBA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4283C5-7CEB-C3A6-3D15-0C58149D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410" y="1581502"/>
            <a:ext cx="10948386" cy="46287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0793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spc="0" dirty="0">
          <a:solidFill>
            <a:schemeClr val="bg1"/>
          </a:solidFill>
          <a:effectLst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Arial" panose="020B0604020202020204" pitchFamily="34" charset="0"/>
        <a:buChar char="•"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Courier New" panose="02070309020205020404" pitchFamily="49" charset="0"/>
        <a:buChar char="o"/>
        <a:defRPr lang="en-US" sz="12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1">
          <p15:clr>
            <a:srgbClr val="F26B43"/>
          </p15:clr>
        </p15:guide>
        <p15:guide id="3" pos="7301">
          <p15:clr>
            <a:srgbClr val="F26B43"/>
          </p15:clr>
        </p15:guide>
        <p15:guide id="12" orient="horz" pos="3912">
          <p15:clr>
            <a:srgbClr val="F26B43"/>
          </p15:clr>
        </p15:guide>
        <p15:guide id="13" pos="826">
          <p15:clr>
            <a:srgbClr val="F26B43"/>
          </p15:clr>
        </p15:guide>
        <p15:guide id="14" pos="981">
          <p15:clr>
            <a:srgbClr val="F26B43"/>
          </p15:clr>
        </p15:guide>
        <p15:guide id="15" pos="1392">
          <p15:clr>
            <a:srgbClr val="F26B43"/>
          </p15:clr>
        </p15:guide>
        <p15:guide id="16" pos="1536">
          <p15:clr>
            <a:srgbClr val="F26B43"/>
          </p15:clr>
        </p15:guide>
        <p15:guide id="17" pos="2000">
          <p15:clr>
            <a:srgbClr val="F26B43"/>
          </p15:clr>
        </p15:guide>
        <p15:guide id="18" pos="2152">
          <p15:clr>
            <a:srgbClr val="F26B43"/>
          </p15:clr>
        </p15:guide>
        <p15:guide id="19" pos="2590">
          <p15:clr>
            <a:srgbClr val="F26B43"/>
          </p15:clr>
        </p15:guide>
        <p15:guide id="20" pos="2743">
          <p15:clr>
            <a:srgbClr val="F26B43"/>
          </p15:clr>
        </p15:guide>
        <p15:guide id="21" pos="3182">
          <p15:clr>
            <a:srgbClr val="F26B43"/>
          </p15:clr>
        </p15:guide>
        <p15:guide id="22" pos="3329">
          <p15:clr>
            <a:srgbClr val="F26B43"/>
          </p15:clr>
        </p15:guide>
        <p15:guide id="23" pos="3764">
          <p15:clr>
            <a:srgbClr val="F26B43"/>
          </p15:clr>
        </p15:guide>
        <p15:guide id="24" pos="3916">
          <p15:clr>
            <a:srgbClr val="F26B43"/>
          </p15:clr>
        </p15:guide>
        <p15:guide id="25" pos="4353">
          <p15:clr>
            <a:srgbClr val="F26B43"/>
          </p15:clr>
        </p15:guide>
        <p15:guide id="26" pos="4508">
          <p15:clr>
            <a:srgbClr val="F26B43"/>
          </p15:clr>
        </p15:guide>
        <p15:guide id="27" pos="4950">
          <p15:clr>
            <a:srgbClr val="F26B43"/>
          </p15:clr>
        </p15:guide>
        <p15:guide id="28" pos="5100">
          <p15:clr>
            <a:srgbClr val="F26B43"/>
          </p15:clr>
        </p15:guide>
        <p15:guide id="29" pos="5536">
          <p15:clr>
            <a:srgbClr val="F26B43"/>
          </p15:clr>
        </p15:guide>
        <p15:guide id="30" pos="5689">
          <p15:clr>
            <a:srgbClr val="F26B43"/>
          </p15:clr>
        </p15:guide>
        <p15:guide id="31" pos="6123">
          <p15:clr>
            <a:srgbClr val="F26B43"/>
          </p15:clr>
        </p15:guide>
        <p15:guide id="32" pos="6278">
          <p15:clr>
            <a:srgbClr val="F26B43"/>
          </p15:clr>
        </p15:guide>
        <p15:guide id="33" pos="6712">
          <p15:clr>
            <a:srgbClr val="F26B43"/>
          </p15:clr>
        </p15:guide>
        <p15:guide id="34" pos="6865">
          <p15:clr>
            <a:srgbClr val="F26B43"/>
          </p15:clr>
        </p15:guide>
        <p15:guide id="35" orient="horz" pos="984">
          <p15:clr>
            <a:srgbClr val="F26B43"/>
          </p15:clr>
        </p15:guide>
        <p15:guide id="36" orient="horz" pos="4128">
          <p15:clr>
            <a:srgbClr val="F26B43"/>
          </p15:clr>
        </p15:guide>
        <p15:guide id="37" orient="horz" pos="1080">
          <p15:clr>
            <a:srgbClr val="F26B43"/>
          </p15:clr>
        </p15:guide>
        <p15:guide id="38" orient="horz" pos="1248">
          <p15:clr>
            <a:srgbClr val="F26B43"/>
          </p15:clr>
        </p15:guide>
        <p15:guide id="39" orient="horz" pos="672">
          <p15:clr>
            <a:srgbClr val="F26B43"/>
          </p15:clr>
        </p15:guide>
        <p15:guide id="4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D8D4B2-EDA2-14EF-FF43-86593154A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C3157B8-4901-09B1-2ECC-912330EE8438}"/>
              </a:ext>
            </a:extLst>
          </p:cNvPr>
          <p:cNvSpPr/>
          <p:nvPr/>
        </p:nvSpPr>
        <p:spPr>
          <a:xfrm>
            <a:off x="3780154" y="3710039"/>
            <a:ext cx="3357516" cy="2563231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156BD2-034D-7F0F-C49E-A74F5C63ACF0}"/>
              </a:ext>
            </a:extLst>
          </p:cNvPr>
          <p:cNvSpPr txBox="1"/>
          <p:nvPr/>
        </p:nvSpPr>
        <p:spPr>
          <a:xfrm>
            <a:off x="548640" y="320040"/>
            <a:ext cx="58606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FFFFF"/>
                </a:solidFill>
              </a:rPr>
              <a:t>Executive Summary — </a:t>
            </a:r>
            <a:r>
              <a:rPr lang="en-US" sz="2800" b="1" dirty="0">
                <a:solidFill>
                  <a:srgbClr val="FFFFFF"/>
                </a:solidFill>
              </a:rPr>
              <a:t>Atlas Delivery Platform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81CC9-16A5-3007-410C-14F844462299}"/>
              </a:ext>
            </a:extLst>
          </p:cNvPr>
          <p:cNvSpPr txBox="1"/>
          <p:nvPr/>
        </p:nvSpPr>
        <p:spPr>
          <a:xfrm>
            <a:off x="548640" y="960120"/>
            <a:ext cx="84547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C8C8D0"/>
                </a:solidFill>
              </a:rPr>
              <a:t>Reporting period: </a:t>
            </a:r>
            <a:r>
              <a:rPr lang="en-US" sz="1400" dirty="0">
                <a:solidFill>
                  <a:srgbClr val="C8C8D0"/>
                </a:solidFill>
              </a:rPr>
              <a:t>July 2026</a:t>
            </a:r>
            <a:r>
              <a:rPr sz="1400" dirty="0">
                <a:solidFill>
                  <a:srgbClr val="C8C8D0"/>
                </a:solidFill>
              </a:rPr>
              <a:t>  |   </a:t>
            </a:r>
            <a:r>
              <a:rPr lang="en-US" sz="1400" dirty="0">
                <a:solidFill>
                  <a:srgbClr val="C8C8D0"/>
                </a:solidFill>
              </a:rPr>
              <a:t>A</a:t>
            </a:r>
            <a:r>
              <a:rPr sz="1400" dirty="0">
                <a:solidFill>
                  <a:srgbClr val="C8C8D0"/>
                </a:solidFill>
              </a:rPr>
              <a:t>ssessment</a:t>
            </a:r>
            <a:r>
              <a:rPr lang="en-US" sz="1400" dirty="0">
                <a:solidFill>
                  <a:srgbClr val="C8C8D0"/>
                </a:solidFill>
              </a:rPr>
              <a:t> Date and Time</a:t>
            </a:r>
            <a:r>
              <a:rPr sz="1400" dirty="0">
                <a:solidFill>
                  <a:srgbClr val="C8C8D0"/>
                </a:solidFill>
              </a:rPr>
              <a:t>: </a:t>
            </a:r>
            <a:r>
              <a:rPr lang="en-US" sz="1400" dirty="0">
                <a:solidFill>
                  <a:srgbClr val="C8C8D0"/>
                </a:solidFill>
              </a:rPr>
              <a:t>2026-08-01 09:00 UTC |   Author: Volodymyr</a:t>
            </a:r>
            <a:endParaRPr sz="1400" dirty="0">
              <a:solidFill>
                <a:srgbClr val="C8C8D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1E993F-3BA0-C65E-5EE7-D8C39B4B29E2}"/>
              </a:ext>
            </a:extLst>
          </p:cNvPr>
          <p:cNvSpPr/>
          <p:nvPr/>
        </p:nvSpPr>
        <p:spPr>
          <a:xfrm>
            <a:off x="3769145" y="1412699"/>
            <a:ext cx="3377952" cy="2150633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85EAB2-2CF0-131D-F523-34050124ADCA}"/>
              </a:ext>
            </a:extLst>
          </p:cNvPr>
          <p:cNvSpPr txBox="1"/>
          <p:nvPr/>
        </p:nvSpPr>
        <p:spPr>
          <a:xfrm>
            <a:off x="4914567" y="1521690"/>
            <a:ext cx="1347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0F6FF"/>
                </a:solidFill>
              </a:rPr>
              <a:t>Overall</a:t>
            </a:r>
            <a:r>
              <a:rPr lang="en-US" sz="1200" b="1" dirty="0">
                <a:solidFill>
                  <a:srgbClr val="00F6FF"/>
                </a:solidFill>
              </a:rPr>
              <a:t> Status</a:t>
            </a:r>
            <a:endParaRPr sz="1200" b="1" dirty="0">
              <a:solidFill>
                <a:srgbClr val="00F6FF"/>
              </a:solidFill>
            </a:endParaRPr>
          </a:p>
        </p:txBody>
      </p:sp>
      <p:sp>
        <p:nvSpPr>
          <p:cNvPr id="27" name="Rectangle 26" descr="Overall RAG Status">
            <a:extLst>
              <a:ext uri="{FF2B5EF4-FFF2-40B4-BE49-F238E27FC236}">
                <a16:creationId xmlns:a16="http://schemas.microsoft.com/office/drawing/2014/main" id="{5E6961F5-0480-6D10-D723-E042AE2824E3}"/>
              </a:ext>
            </a:extLst>
          </p:cNvPr>
          <p:cNvSpPr/>
          <p:nvPr/>
        </p:nvSpPr>
        <p:spPr>
          <a:xfrm>
            <a:off x="3992987" y="1875075"/>
            <a:ext cx="2956149" cy="804138"/>
          </a:xfrm>
          <a:prstGeom prst="rect">
            <a:avLst/>
          </a:prstGeom>
          <a:solidFill>
            <a:srgbClr val="FF7701"/>
          </a:solidFill>
          <a:ln>
            <a:solidFill>
              <a:srgbClr val="FF77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921EF8-8E46-561C-98F8-507FC5B39796}"/>
              </a:ext>
            </a:extLst>
          </p:cNvPr>
          <p:cNvSpPr txBox="1"/>
          <p:nvPr/>
        </p:nvSpPr>
        <p:spPr>
          <a:xfrm>
            <a:off x="3981967" y="2879153"/>
            <a:ext cx="308971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</a:rPr>
              <a:t>Score: 2.13 / 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59A370-5A6B-005A-3E13-83F65419F2DA}"/>
              </a:ext>
            </a:extLst>
          </p:cNvPr>
          <p:cNvSpPr txBox="1"/>
          <p:nvPr/>
        </p:nvSpPr>
        <p:spPr>
          <a:xfrm>
            <a:off x="3974876" y="4255339"/>
            <a:ext cx="29680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sz="1200" dirty="0"/>
              <a:t>Overall status is AMBER.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sz="1200" dirty="0"/>
              <a:t>Proceeding to release requires a short-term plan to reduce critical defect load and close P1/P2 execution gaps.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sz="1200" dirty="0"/>
              <a:t>QA capacity constraints must be addressed to prevent late-cycle validation risks.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0226B7-2C89-3B8F-3C7C-F0372768BEDD}"/>
              </a:ext>
            </a:extLst>
          </p:cNvPr>
          <p:cNvSpPr txBox="1"/>
          <p:nvPr/>
        </p:nvSpPr>
        <p:spPr>
          <a:xfrm>
            <a:off x="8817108" y="1492610"/>
            <a:ext cx="13170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0F6FF"/>
                </a:solidFill>
              </a:rPr>
              <a:t>Scores by group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E5AAD6-B1A9-728E-A3AC-D09AF4B587AC}"/>
              </a:ext>
            </a:extLst>
          </p:cNvPr>
          <p:cNvSpPr txBox="1"/>
          <p:nvPr/>
        </p:nvSpPr>
        <p:spPr>
          <a:xfrm>
            <a:off x="4082768" y="1959924"/>
            <a:ext cx="287964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0B0B0F"/>
                </a:solidFill>
              </a:rPr>
              <a:t>AMBER</a:t>
            </a:r>
            <a:endParaRPr sz="3500" b="1" dirty="0">
              <a:solidFill>
                <a:srgbClr val="0B0B0F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1E6C7E-6A21-AAE9-D914-18EFFD83A419}"/>
              </a:ext>
            </a:extLst>
          </p:cNvPr>
          <p:cNvSpPr txBox="1"/>
          <p:nvPr/>
        </p:nvSpPr>
        <p:spPr>
          <a:xfrm>
            <a:off x="4644694" y="3854610"/>
            <a:ext cx="15028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F6FF"/>
                </a:solidFill>
              </a:rPr>
              <a:t>General Conclusions</a:t>
            </a:r>
            <a:endParaRPr sz="1200" b="1" dirty="0">
              <a:solidFill>
                <a:srgbClr val="00F6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DD7061-0D7E-FA72-66F5-BF90B4426A4F}"/>
              </a:ext>
            </a:extLst>
          </p:cNvPr>
          <p:cNvSpPr/>
          <p:nvPr/>
        </p:nvSpPr>
        <p:spPr>
          <a:xfrm>
            <a:off x="713021" y="1412699"/>
            <a:ext cx="2691646" cy="4860571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9AC130-1D21-1F75-487E-6BDBB1711F11}"/>
              </a:ext>
            </a:extLst>
          </p:cNvPr>
          <p:cNvSpPr txBox="1"/>
          <p:nvPr/>
        </p:nvSpPr>
        <p:spPr>
          <a:xfrm>
            <a:off x="888881" y="1507699"/>
            <a:ext cx="15028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F6FF"/>
                </a:solidFill>
              </a:rPr>
              <a:t>Project Facts</a:t>
            </a:r>
            <a:endParaRPr sz="1200" b="1" dirty="0">
              <a:solidFill>
                <a:srgbClr val="00F6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E3B3A-9A52-B636-9A58-0FC461B380D1}"/>
              </a:ext>
            </a:extLst>
          </p:cNvPr>
          <p:cNvSpPr txBox="1"/>
          <p:nvPr/>
        </p:nvSpPr>
        <p:spPr>
          <a:xfrm>
            <a:off x="809598" y="1800538"/>
            <a:ext cx="2495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C8C8D0"/>
                </a:solidFill>
              </a:rPr>
              <a:t>Cadence: Monthly | Dev: 10 | QA: 2 | Jira connected: No</a:t>
            </a:r>
          </a:p>
          <a:p>
            <a:r>
              <a:rPr lang="en-US" sz="1200" dirty="0">
                <a:solidFill>
                  <a:srgbClr val="C8C8D0"/>
                </a:solidFill>
              </a:rPr>
              <a:t>Ongoing/Efficiency</a:t>
            </a:r>
            <a:endParaRPr sz="1200" dirty="0">
              <a:solidFill>
                <a:srgbClr val="C8C8D0"/>
              </a:solidFill>
            </a:endParaRPr>
          </a:p>
        </p:txBody>
      </p:sp>
      <p:pic>
        <p:nvPicPr>
          <p:cNvPr id="44" name="Picture 44" descr="[Rose Chart for Project Group Metrics Statuses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213" y="1788098"/>
            <a:ext cx="4424169" cy="442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76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C8929-DFC4-444F-AC73-C33772A8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B5BFD2-EC68-E578-9181-E27E98A1A2D2}"/>
              </a:ext>
            </a:extLst>
          </p:cNvPr>
          <p:cNvSpPr txBox="1"/>
          <p:nvPr/>
        </p:nvSpPr>
        <p:spPr>
          <a:xfrm>
            <a:off x="548640" y="320040"/>
            <a:ext cx="40438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General Categories Scores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6E36A7-E1AB-1E5E-8A26-74E9D41C4CA7}"/>
              </a:ext>
            </a:extLst>
          </p:cNvPr>
          <p:cNvSpPr/>
          <p:nvPr/>
        </p:nvSpPr>
        <p:spPr>
          <a:xfrm>
            <a:off x="629349" y="1384757"/>
            <a:ext cx="10933302" cy="4838243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Category Card" descr="Category Card"/>
          <p:cNvSpPr/>
          <p:nvPr/>
        </p:nvSpPr>
        <p:spPr>
          <a:xfrm>
            <a:off x="789800" y="2162009"/>
            <a:ext cx="5053523" cy="3032113"/>
          </a:xfrm>
          <a:prstGeom prst="rect">
            <a:avLst/>
          </a:prstGeom>
          <a:solidFill>
            <a:srgbClr val="161616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txBody>
          <a:bodyPr spcFirstLastPara="0" vert="horz" wrap="square" lIns="129540" tIns="129540" rIns="129540" bIns="129540" numCol="1" spcCol="1270" anchor="ctr" anchorCtr="0">
            <a:normAutofit fontScale="70000" lnSpcReduction="10000"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b="1" kern="1200" dirty="0">
                <a:solidFill>
                  <a:srgbClr val="55E66F"/>
                </a:solidFill>
              </a:rPr>
              <a:t>Testing Delivery Status  (2.33/3, GREEN)</a:t>
            </a:r>
          </a:p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>
                <a:solidFill>
                  <a:srgbClr val="FFFFFF"/>
                </a:solidFill>
              </a:rPr>
              <a:t>Delivery cadence is on track; primary risk is thin QA capacity relative to dev team size.</a:t>
            </a:r>
          </a:p>
        </p:txBody>
      </p:sp>
      <p:sp>
        <p:nvSpPr>
          <p:cNvPr id="201" name="Category Card" descr="Category Card"/>
          <p:cNvSpPr/>
          <p:nvPr/>
        </p:nvSpPr>
        <p:spPr>
          <a:xfrm>
            <a:off x="6348676" y="2162009"/>
            <a:ext cx="5053523" cy="3032113"/>
          </a:xfrm>
          <a:prstGeom prst="rect">
            <a:avLst/>
          </a:prstGeom>
          <a:solidFill>
            <a:srgbClr val="161616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txBody>
          <a:bodyPr spcFirstLastPara="0" vert="horz" wrap="square" lIns="129540" tIns="129540" rIns="129540" bIns="129540" numCol="1" spcCol="1270" anchor="ctr" anchorCtr="0">
            <a:normAutofit fontScale="70000" lnSpcReduction="10000"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b="1" kern="1200" dirty="0">
                <a:solidFill>
                  <a:srgbClr val="FF7701"/>
                </a:solidFill>
              </a:rPr>
              <a:t>Release Readiness  (1.92/3, AMBER)</a:t>
            </a:r>
          </a:p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>
                <a:solidFill>
                  <a:srgbClr val="FFFFFF"/>
                </a:solidFill>
              </a:rPr>
              <a:t>Open P1/P2 defect load and incomplete manual execution coverage are the main blockers to release readiness.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837DA-970B-A2F0-3E07-296E832C2283}"/>
              </a:ext>
            </a:extLst>
          </p:cNvPr>
          <p:cNvSpPr txBox="1"/>
          <p:nvPr/>
        </p:nvSpPr>
        <p:spPr>
          <a:xfrm>
            <a:off x="548640" y="960120"/>
            <a:ext cx="84547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C8C8D0"/>
                </a:solidFill>
              </a:rPr>
              <a:t>Reporting period: </a:t>
            </a:r>
            <a:r>
              <a:rPr lang="en-US" sz="1400" dirty="0">
                <a:solidFill>
                  <a:srgbClr val="C8C8D0"/>
                </a:solidFill>
              </a:rPr>
              <a:t>July 2026</a:t>
            </a:r>
            <a:r>
              <a:rPr sz="1400" dirty="0">
                <a:solidFill>
                  <a:srgbClr val="C8C8D0"/>
                </a:solidFill>
              </a:rPr>
              <a:t>  |   </a:t>
            </a:r>
            <a:r>
              <a:rPr lang="en-US" sz="1400" dirty="0">
                <a:solidFill>
                  <a:srgbClr val="C8C8D0"/>
                </a:solidFill>
              </a:rPr>
              <a:t>A</a:t>
            </a:r>
            <a:r>
              <a:rPr sz="1400" dirty="0">
                <a:solidFill>
                  <a:srgbClr val="C8C8D0"/>
                </a:solidFill>
              </a:rPr>
              <a:t>ssessment</a:t>
            </a:r>
            <a:r>
              <a:rPr lang="en-US" sz="1400" dirty="0">
                <a:solidFill>
                  <a:srgbClr val="C8C8D0"/>
                </a:solidFill>
              </a:rPr>
              <a:t> Date and Time</a:t>
            </a:r>
            <a:r>
              <a:rPr sz="1400" dirty="0">
                <a:solidFill>
                  <a:srgbClr val="C8C8D0"/>
                </a:solidFill>
              </a:rPr>
              <a:t>: </a:t>
            </a:r>
            <a:r>
              <a:rPr lang="en-US" sz="1400" dirty="0">
                <a:solidFill>
                  <a:srgbClr val="C8C8D0"/>
                </a:solidFill>
              </a:rPr>
              <a:t>2026-08-01 09:00 UTC |   Author: Volodymyr</a:t>
            </a:r>
            <a:endParaRPr sz="1400" dirty="0">
              <a:solidFill>
                <a:srgbClr val="C8C8D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813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4936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916EE9-65B3-62B9-05A9-054B016DE0A2}"/>
              </a:ext>
            </a:extLst>
          </p:cNvPr>
          <p:cNvSpPr/>
          <p:nvPr/>
        </p:nvSpPr>
        <p:spPr>
          <a:xfrm>
            <a:off x="783167" y="1496908"/>
            <a:ext cx="4675293" cy="4802295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4733"/>
            <a:ext cx="11155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rial"/>
              </a:rPr>
              <a:t>Top </a:t>
            </a:r>
            <a:r>
              <a:rPr lang="en-US" sz="2600" b="1" dirty="0">
                <a:solidFill>
                  <a:srgbClr val="FFFFFF"/>
                </a:solidFill>
                <a:latin typeface="Arial"/>
              </a:rPr>
              <a:t>5 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Items (Cross-group)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7CDBFE-6385-148B-A61D-76C38E6F43B0}"/>
              </a:ext>
            </a:extLst>
          </p:cNvPr>
          <p:cNvSpPr txBox="1"/>
          <p:nvPr/>
        </p:nvSpPr>
        <p:spPr>
          <a:xfrm>
            <a:off x="1125220" y="2234251"/>
            <a:ext cx="41503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  <a:latin typeface="Arial"/>
              </a:rPr>
              <a:t>1. Release Readiness — P1/P2 defects (Why: P1=1, P2=10 open)</a:t>
            </a:r>
          </a:p>
          <a:p>
            <a:pPr algn="l"/>
            <a:r>
              <a:rPr sz="1200" b="0" dirty="0">
                <a:solidFill>
                  <a:srgbClr val="FFFFFF"/>
                </a:solidFill>
                <a:latin typeface="Arial"/>
              </a:rPr>
              <a:t>   Action: Run a focused P1/P2 burn-down before release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2. Release Readiness — Manual P1/P2 execution coverage (Why: Finished at 80%)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   Action: Execute remaining P1/P2 tests or formally de-scope with explicit sign-off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3. Testing Delivery Status — QA capacity (Why: Dev:QA 15:1 (QA share ~6.3%))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   Action: Add QA capacity and/or reduce scope; push shift-left testing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700FFA-EE9E-C37C-C994-A5630E2E968B}"/>
              </a:ext>
            </a:extLst>
          </p:cNvPr>
          <p:cNvSpPr/>
          <p:nvPr/>
        </p:nvSpPr>
        <p:spPr>
          <a:xfrm>
            <a:off x="6400800" y="1496910"/>
            <a:ext cx="5491480" cy="4802294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89DEF7-8350-639B-711D-9514B476136A}"/>
              </a:ext>
            </a:extLst>
          </p:cNvPr>
          <p:cNvSpPr txBox="1"/>
          <p:nvPr/>
        </p:nvSpPr>
        <p:spPr>
          <a:xfrm>
            <a:off x="6720840" y="2219785"/>
            <a:ext cx="46634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1. Release Readiness — P3+ defects (Why: 13 open)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   Action: Triage/groom to keep backlog ≤ 10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2. Release Readiness — Automated P1/P2 execution coverage (Why: 90%)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   Action: Stabilize/fix missing automation to reach 100%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37FC2-8F50-D579-FC0E-05C20B1A04E7}"/>
              </a:ext>
            </a:extLst>
          </p:cNvPr>
          <p:cNvSpPr/>
          <p:nvPr/>
        </p:nvSpPr>
        <p:spPr bwMode="auto">
          <a:xfrm>
            <a:off x="1143508" y="1752840"/>
            <a:ext cx="2431796" cy="332399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/>
              </a:rPr>
              <a:t>Top RED (immediate: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3F47CD-1C06-A37C-BD1D-878893EB8A92}"/>
              </a:ext>
            </a:extLst>
          </p:cNvPr>
          <p:cNvSpPr/>
          <p:nvPr/>
        </p:nvSpPr>
        <p:spPr bwMode="auto">
          <a:xfrm>
            <a:off x="6766814" y="1738373"/>
            <a:ext cx="2578354" cy="332399"/>
          </a:xfrm>
          <a:prstGeom prst="rect">
            <a:avLst/>
          </a:prstGeom>
          <a:solidFill>
            <a:srgbClr val="FF770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/>
              </a:rPr>
              <a:t>Top AMBER (needs attention):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38B2F-A595-8807-4135-C790518001BD}"/>
              </a:ext>
            </a:extLst>
          </p:cNvPr>
          <p:cNvSpPr txBox="1"/>
          <p:nvPr/>
        </p:nvSpPr>
        <p:spPr>
          <a:xfrm>
            <a:off x="548640" y="960120"/>
            <a:ext cx="84547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C8C8D0"/>
                </a:solidFill>
              </a:rPr>
              <a:t>Reporting period: </a:t>
            </a:r>
            <a:r>
              <a:rPr lang="en-US" sz="1400" dirty="0">
                <a:solidFill>
                  <a:srgbClr val="C8C8D0"/>
                </a:solidFill>
              </a:rPr>
              <a:t>July 2026</a:t>
            </a:r>
            <a:r>
              <a:rPr sz="1400" dirty="0">
                <a:solidFill>
                  <a:srgbClr val="C8C8D0"/>
                </a:solidFill>
              </a:rPr>
              <a:t>  |   </a:t>
            </a:r>
            <a:r>
              <a:rPr lang="en-US" sz="1400" dirty="0">
                <a:solidFill>
                  <a:srgbClr val="C8C8D0"/>
                </a:solidFill>
              </a:rPr>
              <a:t>A</a:t>
            </a:r>
            <a:r>
              <a:rPr sz="1400" dirty="0">
                <a:solidFill>
                  <a:srgbClr val="C8C8D0"/>
                </a:solidFill>
              </a:rPr>
              <a:t>ssessment</a:t>
            </a:r>
            <a:r>
              <a:rPr lang="en-US" sz="1400" dirty="0">
                <a:solidFill>
                  <a:srgbClr val="C8C8D0"/>
                </a:solidFill>
              </a:rPr>
              <a:t> Date and Time</a:t>
            </a:r>
            <a:r>
              <a:rPr sz="1400" dirty="0">
                <a:solidFill>
                  <a:srgbClr val="C8C8D0"/>
                </a:solidFill>
              </a:rPr>
              <a:t>: </a:t>
            </a:r>
            <a:r>
              <a:rPr lang="en-US" sz="1400" dirty="0">
                <a:solidFill>
                  <a:srgbClr val="C8C8D0"/>
                </a:solidFill>
              </a:rPr>
              <a:t>2026-08-01 09:00 UTC |   Author: Volodymyr</a:t>
            </a:r>
            <a:endParaRPr sz="1400" dirty="0">
              <a:solidFill>
                <a:srgbClr val="C8C8D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14D6E-FDFE-AEB9-3E7B-647E6EE7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A82E1EF-2CCD-604A-FB49-FD9A7969C04A}"/>
              </a:ext>
            </a:extLst>
          </p:cNvPr>
          <p:cNvSpPr/>
          <p:nvPr/>
        </p:nvSpPr>
        <p:spPr>
          <a:xfrm>
            <a:off x="548640" y="1417320"/>
            <a:ext cx="5394960" cy="237744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E3F4AC-DE7B-F8CE-132B-9C412219AA7E}"/>
              </a:ext>
            </a:extLst>
          </p:cNvPr>
          <p:cNvSpPr/>
          <p:nvPr/>
        </p:nvSpPr>
        <p:spPr>
          <a:xfrm>
            <a:off x="548640" y="3977639"/>
            <a:ext cx="5394960" cy="256032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8B28B5-4720-8F0C-479C-F81F7225D744}"/>
              </a:ext>
            </a:extLst>
          </p:cNvPr>
          <p:cNvSpPr txBox="1"/>
          <p:nvPr/>
        </p:nvSpPr>
        <p:spPr>
          <a:xfrm>
            <a:off x="548640" y="320040"/>
            <a:ext cx="48490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G1</a:t>
            </a:r>
            <a:r>
              <a:rPr sz="2800" b="1" dirty="0">
                <a:solidFill>
                  <a:srgbClr val="FFFFFF"/>
                </a:solidFill>
              </a:rPr>
              <a:t> — </a:t>
            </a:r>
            <a:r>
              <a:rPr lang="en-US" sz="2800" b="1" dirty="0">
                <a:solidFill>
                  <a:srgbClr val="FFFFFF"/>
                </a:solidFill>
              </a:rPr>
              <a:t>Testing Delivery Status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BDA4A0-1607-8B4A-F5BB-3FE26F3F6F53}"/>
              </a:ext>
            </a:extLst>
          </p:cNvPr>
          <p:cNvSpPr txBox="1"/>
          <p:nvPr/>
        </p:nvSpPr>
        <p:spPr>
          <a:xfrm>
            <a:off x="548640" y="960120"/>
            <a:ext cx="30710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C8C8D0"/>
                </a:solidFill>
              </a:rPr>
              <a:t>Score: 2.33 / 3   |   RAG: GREEN</a:t>
            </a:r>
          </a:p>
        </p:txBody>
      </p:sp>
      <p:sp>
        <p:nvSpPr>
          <p:cNvPr id="4" name="Rectangle 3" descr="RAG Status Box">
            <a:extLst>
              <a:ext uri="{FF2B5EF4-FFF2-40B4-BE49-F238E27FC236}">
                <a16:creationId xmlns:a16="http://schemas.microsoft.com/office/drawing/2014/main" id="{0BB17645-CC5B-ADB8-ED90-23DE2C861C01}"/>
              </a:ext>
            </a:extLst>
          </p:cNvPr>
          <p:cNvSpPr/>
          <p:nvPr/>
        </p:nvSpPr>
        <p:spPr>
          <a:xfrm>
            <a:off x="10152110" y="389279"/>
            <a:ext cx="1463040" cy="457200"/>
          </a:xfrm>
          <a:prstGeom prst="rect">
            <a:avLst/>
          </a:prstGeom>
          <a:solidFill>
            <a:srgbClr val="55E66F"/>
          </a:solidFill>
          <a:ln>
            <a:solidFill>
              <a:srgbClr val="55E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24A98-8F05-1A04-2978-35EE4293E2A0}"/>
              </a:ext>
            </a:extLst>
          </p:cNvPr>
          <p:cNvSpPr txBox="1"/>
          <p:nvPr/>
        </p:nvSpPr>
        <p:spPr>
          <a:xfrm>
            <a:off x="10284885" y="457010"/>
            <a:ext cx="12634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0B0B0F"/>
                </a:solidFill>
              </a:rPr>
              <a:t>GREEN</a:t>
            </a:r>
            <a:endParaRPr sz="1600" b="1" dirty="0">
              <a:solidFill>
                <a:srgbClr val="0B0B0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E7733-37FF-062C-A580-CE04C748B2A1}"/>
              </a:ext>
            </a:extLst>
          </p:cNvPr>
          <p:cNvSpPr/>
          <p:nvPr/>
        </p:nvSpPr>
        <p:spPr>
          <a:xfrm>
            <a:off x="6126480" y="1417320"/>
            <a:ext cx="5513832" cy="237744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F1DA6-2A60-A4EC-3279-9D9E3185E0BE}"/>
              </a:ext>
            </a:extLst>
          </p:cNvPr>
          <p:cNvSpPr txBox="1"/>
          <p:nvPr/>
        </p:nvSpPr>
        <p:spPr>
          <a:xfrm>
            <a:off x="822960" y="4218043"/>
            <a:ext cx="1340432" cy="276999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CRITICAL FINDING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EA60BC-A198-39EA-A944-505ADCA67E0B}"/>
              </a:ext>
            </a:extLst>
          </p:cNvPr>
          <p:cNvSpPr txBox="1"/>
          <p:nvPr/>
        </p:nvSpPr>
        <p:spPr>
          <a:xfrm>
            <a:off x="777240" y="4675243"/>
            <a:ext cx="5074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en-US" dirty="0"/>
              <a:t>QA capacity: Dev:QA 15:1 (QA share ~6.3%) — add capacity and/or reduce scope; push shift-left testing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E8739-44FF-22EB-6A62-DE37CFD89613}"/>
              </a:ext>
            </a:extLst>
          </p:cNvPr>
          <p:cNvSpPr txBox="1"/>
          <p:nvPr/>
        </p:nvSpPr>
        <p:spPr>
          <a:xfrm>
            <a:off x="777240" y="1619180"/>
            <a:ext cx="225933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00F6FF"/>
                </a:solidFill>
              </a:rPr>
              <a:t>Conclusion </a:t>
            </a:r>
            <a:r>
              <a:rPr lang="en-US" sz="1200" b="1" dirty="0">
                <a:solidFill>
                  <a:srgbClr val="00F6FF"/>
                </a:solidFill>
              </a:rPr>
              <a:t>&amp; Recommendations</a:t>
            </a:r>
            <a:endParaRPr sz="1200" b="1" dirty="0">
              <a:solidFill>
                <a:srgbClr val="00F6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F81810-FF07-727E-0F67-EA1AEC3AD62F}"/>
              </a:ext>
            </a:extLst>
          </p:cNvPr>
          <p:cNvSpPr txBox="1"/>
          <p:nvPr/>
        </p:nvSpPr>
        <p:spPr>
          <a:xfrm>
            <a:off x="777240" y="1847781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en-US" dirty="0"/>
              <a:t>Delivery cadence is on track; primary risk is thin QA capacity relative to dev team size.</a:t>
            </a:r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AE32D8-0530-93B2-DD0B-F9B692CB65B0}"/>
              </a:ext>
            </a:extLst>
          </p:cNvPr>
          <p:cNvSpPr/>
          <p:nvPr/>
        </p:nvSpPr>
        <p:spPr>
          <a:xfrm>
            <a:off x="6126480" y="3977639"/>
            <a:ext cx="5513832" cy="256032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3A448A-7636-5A7E-9BEB-4650CDC228A0}"/>
              </a:ext>
            </a:extLst>
          </p:cNvPr>
          <p:cNvSpPr txBox="1"/>
          <p:nvPr/>
        </p:nvSpPr>
        <p:spPr>
          <a:xfrm>
            <a:off x="6372519" y="4218043"/>
            <a:ext cx="1247457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AMBER FINDING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E2BCC0-31EA-4A86-6DC7-8CD64F600E11}"/>
              </a:ext>
            </a:extLst>
          </p:cNvPr>
          <p:cNvSpPr txBox="1"/>
          <p:nvPr/>
        </p:nvSpPr>
        <p:spPr>
          <a:xfrm>
            <a:off x="6326799" y="4675243"/>
            <a:ext cx="5074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en-US" dirty="0"/>
              <a:t>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5E1FEB-C253-66A3-13ED-A8A896449369}"/>
              </a:ext>
            </a:extLst>
          </p:cNvPr>
          <p:cNvSpPr txBox="1"/>
          <p:nvPr/>
        </p:nvSpPr>
        <p:spPr>
          <a:xfrm>
            <a:off x="6300216" y="1539003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6FF"/>
                </a:solidFill>
              </a:rPr>
              <a:t>Key data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22669FE-A7B9-2838-1241-7B81E7C56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270760"/>
              </p:ext>
            </p:extLst>
          </p:nvPr>
        </p:nvGraphicFramePr>
        <p:xfrm>
          <a:off x="6300216" y="1848883"/>
          <a:ext cx="4937760" cy="1926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5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F6FF"/>
                          </a:solidFill>
                        </a:rPr>
                        <a:t>Key data</a:t>
                      </a:r>
                    </a:p>
                  </a:txBody>
                  <a:tcPr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F6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Dev:QA ratio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15:1 (QA share ~6.3%)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  <a:p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321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14D6E-FDFE-AEB9-3E7B-647E6EE7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A82E1EF-2CCD-604A-FB49-FD9A7969C04A}"/>
              </a:ext>
            </a:extLst>
          </p:cNvPr>
          <p:cNvSpPr/>
          <p:nvPr/>
        </p:nvSpPr>
        <p:spPr>
          <a:xfrm>
            <a:off x="548640" y="1417320"/>
            <a:ext cx="5394960" cy="237744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E3F4AC-DE7B-F8CE-132B-9C412219AA7E}"/>
              </a:ext>
            </a:extLst>
          </p:cNvPr>
          <p:cNvSpPr/>
          <p:nvPr/>
        </p:nvSpPr>
        <p:spPr>
          <a:xfrm>
            <a:off x="548640" y="3977639"/>
            <a:ext cx="5394960" cy="256032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8B28B5-4720-8F0C-479C-F81F7225D744}"/>
              </a:ext>
            </a:extLst>
          </p:cNvPr>
          <p:cNvSpPr txBox="1"/>
          <p:nvPr/>
        </p:nvSpPr>
        <p:spPr>
          <a:xfrm>
            <a:off x="548640" y="320040"/>
            <a:ext cx="48490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G2</a:t>
            </a:r>
            <a:r>
              <a:rPr sz="2800" b="1" dirty="0">
                <a:solidFill>
                  <a:srgbClr val="FFFFFF"/>
                </a:solidFill>
              </a:rPr>
              <a:t> — </a:t>
            </a:r>
            <a:r>
              <a:rPr lang="en-US" sz="2800" b="1" dirty="0">
                <a:solidFill>
                  <a:srgbClr val="FFFFFF"/>
                </a:solidFill>
              </a:rPr>
              <a:t>Release Readiness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BDA4A0-1607-8B4A-F5BB-3FE26F3F6F53}"/>
              </a:ext>
            </a:extLst>
          </p:cNvPr>
          <p:cNvSpPr txBox="1"/>
          <p:nvPr/>
        </p:nvSpPr>
        <p:spPr>
          <a:xfrm>
            <a:off x="548640" y="960120"/>
            <a:ext cx="30710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C8C8D0"/>
                </a:solidFill>
              </a:rPr>
              <a:t>Score: 1.92 / 3   |   RAG: AMBER</a:t>
            </a:r>
          </a:p>
        </p:txBody>
      </p:sp>
      <p:sp>
        <p:nvSpPr>
          <p:cNvPr id="4" name="Rectangle 3" descr="RAG Status Box">
            <a:extLst>
              <a:ext uri="{FF2B5EF4-FFF2-40B4-BE49-F238E27FC236}">
                <a16:creationId xmlns:a16="http://schemas.microsoft.com/office/drawing/2014/main" id="{0BB17645-CC5B-ADB8-ED90-23DE2C861C01}"/>
              </a:ext>
            </a:extLst>
          </p:cNvPr>
          <p:cNvSpPr/>
          <p:nvPr/>
        </p:nvSpPr>
        <p:spPr>
          <a:xfrm>
            <a:off x="10152110" y="389279"/>
            <a:ext cx="1463040" cy="457200"/>
          </a:xfrm>
          <a:prstGeom prst="rect">
            <a:avLst/>
          </a:prstGeom>
          <a:solidFill>
            <a:srgbClr val="FF7701"/>
          </a:solidFill>
          <a:ln>
            <a:solidFill>
              <a:srgbClr val="55E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24A98-8F05-1A04-2978-35EE4293E2A0}"/>
              </a:ext>
            </a:extLst>
          </p:cNvPr>
          <p:cNvSpPr txBox="1"/>
          <p:nvPr/>
        </p:nvSpPr>
        <p:spPr>
          <a:xfrm>
            <a:off x="10284885" y="457010"/>
            <a:ext cx="12634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0B0B0F"/>
                </a:solidFill>
              </a:rPr>
              <a:t>AMBER</a:t>
            </a:r>
            <a:endParaRPr sz="1600" b="1" dirty="0">
              <a:solidFill>
                <a:srgbClr val="0B0B0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E7733-37FF-062C-A580-CE04C748B2A1}"/>
              </a:ext>
            </a:extLst>
          </p:cNvPr>
          <p:cNvSpPr/>
          <p:nvPr/>
        </p:nvSpPr>
        <p:spPr>
          <a:xfrm>
            <a:off x="6126480" y="1417320"/>
            <a:ext cx="5513832" cy="237744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F1DA6-2A60-A4EC-3279-9D9E3185E0BE}"/>
              </a:ext>
            </a:extLst>
          </p:cNvPr>
          <p:cNvSpPr txBox="1"/>
          <p:nvPr/>
        </p:nvSpPr>
        <p:spPr>
          <a:xfrm>
            <a:off x="822960" y="4218043"/>
            <a:ext cx="1340432" cy="276999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CRITICAL FINDING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EA60BC-A198-39EA-A944-505ADCA67E0B}"/>
              </a:ext>
            </a:extLst>
          </p:cNvPr>
          <p:cNvSpPr txBox="1"/>
          <p:nvPr/>
        </p:nvSpPr>
        <p:spPr>
          <a:xfrm>
            <a:off x="777240" y="4675243"/>
            <a:ext cx="5074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en-US" dirty="0"/>
              <a:t>P1/P2 defects: P1=1, P2=10 open — run a focused burn-down before release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lang="en-US" dirty="0"/>
              <a:t>Manual P1/P2 execution coverage at 80% — execute remaining tests or formally de-scope with sign-off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E8739-44FF-22EB-6A62-DE37CFD89613}"/>
              </a:ext>
            </a:extLst>
          </p:cNvPr>
          <p:cNvSpPr txBox="1"/>
          <p:nvPr/>
        </p:nvSpPr>
        <p:spPr>
          <a:xfrm>
            <a:off x="777240" y="1619180"/>
            <a:ext cx="225933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00F6FF"/>
                </a:solidFill>
              </a:rPr>
              <a:t>Conclusion </a:t>
            </a:r>
            <a:r>
              <a:rPr lang="en-US" sz="1200" b="1" dirty="0">
                <a:solidFill>
                  <a:srgbClr val="00F6FF"/>
                </a:solidFill>
              </a:rPr>
              <a:t>&amp; Recommendations</a:t>
            </a:r>
            <a:endParaRPr sz="1200" b="1" dirty="0">
              <a:solidFill>
                <a:srgbClr val="00F6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F81810-FF07-727E-0F67-EA1AEC3AD62F}"/>
              </a:ext>
            </a:extLst>
          </p:cNvPr>
          <p:cNvSpPr txBox="1"/>
          <p:nvPr/>
        </p:nvSpPr>
        <p:spPr>
          <a:xfrm>
            <a:off x="777240" y="1847781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en-US" dirty="0"/>
              <a:t>Open P1/P2 defect load and incomplete manual execution coverage are the main blockers to release readiness.</a:t>
            </a:r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AE32D8-0530-93B2-DD0B-F9B692CB65B0}"/>
              </a:ext>
            </a:extLst>
          </p:cNvPr>
          <p:cNvSpPr/>
          <p:nvPr/>
        </p:nvSpPr>
        <p:spPr>
          <a:xfrm>
            <a:off x="6126480" y="3977639"/>
            <a:ext cx="5513832" cy="256032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3A448A-7636-5A7E-9BEB-4650CDC228A0}"/>
              </a:ext>
            </a:extLst>
          </p:cNvPr>
          <p:cNvSpPr txBox="1"/>
          <p:nvPr/>
        </p:nvSpPr>
        <p:spPr>
          <a:xfrm>
            <a:off x="6372519" y="4218043"/>
            <a:ext cx="1247457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AMBER FINDING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E2BCC0-31EA-4A86-6DC7-8CD64F600E11}"/>
              </a:ext>
            </a:extLst>
          </p:cNvPr>
          <p:cNvSpPr txBox="1"/>
          <p:nvPr/>
        </p:nvSpPr>
        <p:spPr>
          <a:xfrm>
            <a:off x="6326799" y="4675243"/>
            <a:ext cx="5074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en-US" dirty="0"/>
              <a:t>P3+ defects: 13 open — triage/groom to keep backlog ≤ 10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lang="en-US" dirty="0"/>
              <a:t>Automated P1/P2 execution coverage at 90% — stabilize/fix missing automation to reach 100%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5E1FEB-C253-66A3-13ED-A8A896449369}"/>
              </a:ext>
            </a:extLst>
          </p:cNvPr>
          <p:cNvSpPr txBox="1"/>
          <p:nvPr/>
        </p:nvSpPr>
        <p:spPr>
          <a:xfrm>
            <a:off x="6300216" y="1539003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6FF"/>
                </a:solidFill>
              </a:rPr>
              <a:t>Key data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22669FE-A7B9-2838-1241-7B81E7C56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270760"/>
              </p:ext>
            </p:extLst>
          </p:nvPr>
        </p:nvGraphicFramePr>
        <p:xfrm>
          <a:off x="6300216" y="1848883"/>
          <a:ext cx="4937760" cy="1926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5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F6FF"/>
                          </a:solidFill>
                        </a:rPr>
                        <a:t>Key data</a:t>
                      </a:r>
                    </a:p>
                  </a:txBody>
                  <a:tcPr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F6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Open defects P1/P2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P1=1, P2=10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Manual P1/P2 execution coverage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80%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Open defects P3+</a:t>
                      </a:r>
                    </a:p>
                    <a:p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Automated P1/P2 execution coverage</a:t>
                      </a: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321489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Dark 2023.1">
  <a:themeElements>
    <a:clrScheme name="EPAM Dark Palette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161616"/>
      </a:accent1>
      <a:accent2>
        <a:srgbClr val="00F6FF"/>
      </a:accent2>
      <a:accent3>
        <a:srgbClr val="B896FF"/>
      </a:accent3>
      <a:accent4>
        <a:srgbClr val="7BA8FF"/>
      </a:accent4>
      <a:accent5>
        <a:srgbClr val="418DFF"/>
      </a:accent5>
      <a:accent6>
        <a:srgbClr val="00F3AB"/>
      </a:accent6>
      <a:hlink>
        <a:srgbClr val="060606"/>
      </a:hlink>
      <a:folHlink>
        <a:srgbClr val="00000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1323</TotalTime>
  <Words>587</Words>
  <Application>Microsoft Office PowerPoint</Application>
  <PresentationFormat>Widescreen</PresentationFormat>
  <Paragraphs>75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EPAM Master Dark 2023.1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Volodymyr Prymakov</dc:creator>
  <cp:keywords/>
  <dc:description>generated using python-pptx</dc:description>
  <cp:lastModifiedBy>Volodymyr Prymakov</cp:lastModifiedBy>
  <cp:revision>11</cp:revision>
  <dcterms:created xsi:type="dcterms:W3CDTF">2013-01-27T09:14:16Z</dcterms:created>
  <dcterms:modified xsi:type="dcterms:W3CDTF">2026-08-11T19:07:07Z</dcterms:modified>
  <cp:category/>
</cp:coreProperties>
</file>