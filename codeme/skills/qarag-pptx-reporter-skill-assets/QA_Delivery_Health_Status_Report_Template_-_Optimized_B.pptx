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62" r:id="rId2"/>
    <p:sldId id="267" r:id="rId3"/>
    <p:sldId id="266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701"/>
    <a:srgbClr val="DEA900"/>
    <a:srgbClr val="FFC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FD721-C248-4793-8EF6-8A8860C17181}" v="14" dt="2026-08-03T23:23:32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5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DCC26-D4C5-4A25-A082-294B9CD01E3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EFD86-45CC-4FA6-BD5F-0B408B7C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2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F962-FED1-1A75-571F-B9B8A42E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46F1B-13BB-065C-E11B-6BDEE62AF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C1071-966A-B74B-49CF-02B162211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849AC-ADDF-A60D-825B-A1BFE0096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FD86-45CC-4FA6-BD5F-0B408B7CA7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27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8D34-1DE9-DECF-AD38-64C8ED42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B3791-4E8F-5D60-5E6E-78B58BC96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91DF0-0B7F-D5D5-408C-FFF462BC6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F775E-8C88-DE7A-170B-ABCEF7A29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FD86-45CC-4FA6-BD5F-0B408B7CA7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1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833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0793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>
          <p15:clr>
            <a:srgbClr val="F26B43"/>
          </p15:clr>
        </p15:guide>
        <p15:guide id="3" pos="7301">
          <p15:clr>
            <a:srgbClr val="F26B43"/>
          </p15:clr>
        </p15:guide>
        <p15:guide id="12" orient="horz" pos="3912">
          <p15:clr>
            <a:srgbClr val="F26B43"/>
          </p15:clr>
        </p15:guide>
        <p15:guide id="13" pos="826">
          <p15:clr>
            <a:srgbClr val="F26B43"/>
          </p15:clr>
        </p15:guide>
        <p15:guide id="14" pos="981">
          <p15:clr>
            <a:srgbClr val="F26B43"/>
          </p15:clr>
        </p15:guide>
        <p15:guide id="15" pos="1392">
          <p15:clr>
            <a:srgbClr val="F26B43"/>
          </p15:clr>
        </p15:guide>
        <p15:guide id="16" pos="1536">
          <p15:clr>
            <a:srgbClr val="F26B43"/>
          </p15:clr>
        </p15:guide>
        <p15:guide id="17" pos="2000">
          <p15:clr>
            <a:srgbClr val="F26B43"/>
          </p15:clr>
        </p15:guide>
        <p15:guide id="18" pos="2152">
          <p15:clr>
            <a:srgbClr val="F26B43"/>
          </p15:clr>
        </p15:guide>
        <p15:guide id="19" pos="2590">
          <p15:clr>
            <a:srgbClr val="F26B43"/>
          </p15:clr>
        </p15:guide>
        <p15:guide id="20" pos="2743">
          <p15:clr>
            <a:srgbClr val="F26B43"/>
          </p15:clr>
        </p15:guide>
        <p15:guide id="21" pos="3182">
          <p15:clr>
            <a:srgbClr val="F26B43"/>
          </p15:clr>
        </p15:guide>
        <p15:guide id="22" pos="3329">
          <p15:clr>
            <a:srgbClr val="F26B43"/>
          </p15:clr>
        </p15:guide>
        <p15:guide id="23" pos="3764">
          <p15:clr>
            <a:srgbClr val="F26B43"/>
          </p15:clr>
        </p15:guide>
        <p15:guide id="24" pos="3916">
          <p15:clr>
            <a:srgbClr val="F26B43"/>
          </p15:clr>
        </p15:guide>
        <p15:guide id="25" pos="4353">
          <p15:clr>
            <a:srgbClr val="F26B43"/>
          </p15:clr>
        </p15:guide>
        <p15:guide id="26" pos="4508">
          <p15:clr>
            <a:srgbClr val="F26B43"/>
          </p15:clr>
        </p15:guide>
        <p15:guide id="27" pos="4950">
          <p15:clr>
            <a:srgbClr val="F26B43"/>
          </p15:clr>
        </p15:guide>
        <p15:guide id="28" pos="5100">
          <p15:clr>
            <a:srgbClr val="F26B43"/>
          </p15:clr>
        </p15:guide>
        <p15:guide id="29" pos="5536">
          <p15:clr>
            <a:srgbClr val="F26B43"/>
          </p15:clr>
        </p15:guide>
        <p15:guide id="30" pos="5689">
          <p15:clr>
            <a:srgbClr val="F26B43"/>
          </p15:clr>
        </p15:guide>
        <p15:guide id="31" pos="6123">
          <p15:clr>
            <a:srgbClr val="F26B43"/>
          </p15:clr>
        </p15:guide>
        <p15:guide id="32" pos="6278">
          <p15:clr>
            <a:srgbClr val="F26B43"/>
          </p15:clr>
        </p15:guide>
        <p15:guide id="33" pos="6712">
          <p15:clr>
            <a:srgbClr val="F26B43"/>
          </p15:clr>
        </p15:guide>
        <p15:guide id="34" pos="6865">
          <p15:clr>
            <a:srgbClr val="F26B43"/>
          </p15:clr>
        </p15:guide>
        <p15:guide id="35" orient="horz" pos="984">
          <p15:clr>
            <a:srgbClr val="F26B43"/>
          </p15:clr>
        </p15:guide>
        <p15:guide id="36" orient="horz" pos="4128">
          <p15:clr>
            <a:srgbClr val="F26B43"/>
          </p15:clr>
        </p15:guide>
        <p15:guide id="37" orient="horz" pos="1080">
          <p15:clr>
            <a:srgbClr val="F26B43"/>
          </p15:clr>
        </p15:guide>
        <p15:guide id="38" orient="horz" pos="1248">
          <p15:clr>
            <a:srgbClr val="F26B43"/>
          </p15:clr>
        </p15:guide>
        <p15:guide id="39" orient="horz" pos="672">
          <p15:clr>
            <a:srgbClr val="F26B43"/>
          </p15:clr>
        </p15:guide>
        <p15:guide id="4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8D4B2-EDA2-14EF-FF43-86593154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C3157B8-4901-09B1-2ECC-912330EE8438}"/>
              </a:ext>
            </a:extLst>
          </p:cNvPr>
          <p:cNvSpPr/>
          <p:nvPr/>
        </p:nvSpPr>
        <p:spPr>
          <a:xfrm>
            <a:off x="3780154" y="3710039"/>
            <a:ext cx="3357516" cy="256323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56BD2-034D-7F0F-C49E-A74F5C63ACF0}"/>
              </a:ext>
            </a:extLst>
          </p:cNvPr>
          <p:cNvSpPr txBox="1"/>
          <p:nvPr/>
        </p:nvSpPr>
        <p:spPr>
          <a:xfrm>
            <a:off x="548640" y="320040"/>
            <a:ext cx="58606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Executive Summary — </a:t>
            </a:r>
            <a:r>
              <a:rPr lang="en-US" sz="2800" b="1" dirty="0">
                <a:solidFill>
                  <a:srgbClr val="FFFFFF"/>
                </a:solidFill>
              </a:rPr>
              <a:t>[Project Name]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81CC9-16A5-3007-410C-14F844462299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E993F-3BA0-C65E-5EE7-D8C39B4B29E2}"/>
              </a:ext>
            </a:extLst>
          </p:cNvPr>
          <p:cNvSpPr/>
          <p:nvPr/>
        </p:nvSpPr>
        <p:spPr>
          <a:xfrm>
            <a:off x="3769145" y="1412699"/>
            <a:ext cx="3377952" cy="215063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5EAB2-2CF0-131D-F523-34050124ADCA}"/>
              </a:ext>
            </a:extLst>
          </p:cNvPr>
          <p:cNvSpPr txBox="1"/>
          <p:nvPr/>
        </p:nvSpPr>
        <p:spPr>
          <a:xfrm>
            <a:off x="4914567" y="1521690"/>
            <a:ext cx="1347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Overall</a:t>
            </a:r>
            <a:r>
              <a:rPr lang="en-US" sz="1200" b="1" dirty="0">
                <a:solidFill>
                  <a:srgbClr val="00F6FF"/>
                </a:solidFill>
              </a:rPr>
              <a:t> Status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27" name="Rectangle 26" descr="Overall RAG Status">
            <a:extLst>
              <a:ext uri="{FF2B5EF4-FFF2-40B4-BE49-F238E27FC236}">
                <a16:creationId xmlns:a16="http://schemas.microsoft.com/office/drawing/2014/main" id="{5E6961F5-0480-6D10-D723-E042AE2824E3}"/>
              </a:ext>
            </a:extLst>
          </p:cNvPr>
          <p:cNvSpPr/>
          <p:nvPr/>
        </p:nvSpPr>
        <p:spPr>
          <a:xfrm>
            <a:off x="3992987" y="1875075"/>
            <a:ext cx="2956149" cy="804138"/>
          </a:xfrm>
          <a:prstGeom prst="rect">
            <a:avLst/>
          </a:prstGeom>
          <a:solidFill>
            <a:srgbClr val="FF7701"/>
          </a:solidFill>
          <a:ln>
            <a:solidFill>
              <a:srgbClr val="FF7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21EF8-8E46-561C-98F8-507FC5B39796}"/>
              </a:ext>
            </a:extLst>
          </p:cNvPr>
          <p:cNvSpPr txBox="1"/>
          <p:nvPr/>
        </p:nvSpPr>
        <p:spPr>
          <a:xfrm>
            <a:off x="3981967" y="2879153"/>
            <a:ext cx="30897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Score: [n.nn] /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9A370-5A6B-005A-3E13-83F65419F2DA}"/>
              </a:ext>
            </a:extLst>
          </p:cNvPr>
          <p:cNvSpPr txBox="1"/>
          <p:nvPr/>
        </p:nvSpPr>
        <p:spPr>
          <a:xfrm>
            <a:off x="3974876" y="4255339"/>
            <a:ext cx="2968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/>
              <a:t>[General conclusions about project status]</a:t>
            </a:r>
            <a:endParaRPr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226B7-2C89-3B8F-3C7C-F0372768BEDD}"/>
              </a:ext>
            </a:extLst>
          </p:cNvPr>
          <p:cNvSpPr txBox="1"/>
          <p:nvPr/>
        </p:nvSpPr>
        <p:spPr>
          <a:xfrm>
            <a:off x="8817108" y="1492610"/>
            <a:ext cx="13170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Scores by group</a:t>
            </a:r>
          </a:p>
        </p:txBody>
      </p:sp>
      <p:pic>
        <p:nvPicPr>
          <p:cNvPr id="37" name="Picture 36" descr="[Rose Chart for Project Group Metrics Statuses]">
            <a:extLst>
              <a:ext uri="{FF2B5EF4-FFF2-40B4-BE49-F238E27FC236}">
                <a16:creationId xmlns:a16="http://schemas.microsoft.com/office/drawing/2014/main" id="{F992FD5F-0601-8080-B6F8-2B34EA7F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213" y="1788098"/>
            <a:ext cx="4424169" cy="442416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DE5AAD6-B1A9-728E-A3AC-D09AF4B587AC}"/>
              </a:ext>
            </a:extLst>
          </p:cNvPr>
          <p:cNvSpPr txBox="1"/>
          <p:nvPr/>
        </p:nvSpPr>
        <p:spPr>
          <a:xfrm>
            <a:off x="4082768" y="1959924"/>
            <a:ext cx="287964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0B0B0F"/>
                </a:solidFill>
              </a:rPr>
              <a:t>[RAG STATUS]</a:t>
            </a:r>
            <a:endParaRPr sz="3500" b="1" dirty="0">
              <a:solidFill>
                <a:srgbClr val="0B0B0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1E6C7E-6A21-AAE9-D914-18EFFD83A419}"/>
              </a:ext>
            </a:extLst>
          </p:cNvPr>
          <p:cNvSpPr txBox="1"/>
          <p:nvPr/>
        </p:nvSpPr>
        <p:spPr>
          <a:xfrm>
            <a:off x="4644694" y="3854610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General Conclusions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D7061-0D7E-FA72-66F5-BF90B4426A4F}"/>
              </a:ext>
            </a:extLst>
          </p:cNvPr>
          <p:cNvSpPr/>
          <p:nvPr/>
        </p:nvSpPr>
        <p:spPr>
          <a:xfrm>
            <a:off x="713021" y="1412699"/>
            <a:ext cx="2691646" cy="486057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AC130-1D21-1F75-487E-6BDBB1711F11}"/>
              </a:ext>
            </a:extLst>
          </p:cNvPr>
          <p:cNvSpPr txBox="1"/>
          <p:nvPr/>
        </p:nvSpPr>
        <p:spPr>
          <a:xfrm>
            <a:off x="888881" y="1507699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Project Facts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E3B3A-9A52-B636-9A58-0FC461B380D1}"/>
              </a:ext>
            </a:extLst>
          </p:cNvPr>
          <p:cNvSpPr txBox="1"/>
          <p:nvPr/>
        </p:nvSpPr>
        <p:spPr>
          <a:xfrm>
            <a:off x="809598" y="1800538"/>
            <a:ext cx="249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8D0"/>
                </a:solidFill>
              </a:rPr>
              <a:t>[Project entry information]</a:t>
            </a:r>
          </a:p>
          <a:p>
            <a:r>
              <a:rPr lang="en-US" sz="1200" dirty="0">
                <a:solidFill>
                  <a:srgbClr val="C8C8D0"/>
                </a:solidFill>
              </a:rPr>
              <a:t>[Metrics types in scope]</a:t>
            </a:r>
            <a:endParaRPr sz="1200" dirty="0">
              <a:solidFill>
                <a:srgbClr val="C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76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C8929-DFC4-444F-AC73-C33772A8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5BFD2-EC68-E578-9181-E27E98A1A2D2}"/>
              </a:ext>
            </a:extLst>
          </p:cNvPr>
          <p:cNvSpPr txBox="1"/>
          <p:nvPr/>
        </p:nvSpPr>
        <p:spPr>
          <a:xfrm>
            <a:off x="548640" y="320040"/>
            <a:ext cx="40438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General Categories Scores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E36A7-E1AB-1E5E-8A26-74E9D41C4CA7}"/>
              </a:ext>
            </a:extLst>
          </p:cNvPr>
          <p:cNvSpPr/>
          <p:nvPr/>
        </p:nvSpPr>
        <p:spPr>
          <a:xfrm>
            <a:off x="629349" y="1384757"/>
            <a:ext cx="10933302" cy="483824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tegory Card 1" descr="Category Card"/>
          <p:cNvSpPr/>
          <p:nvPr/>
        </p:nvSpPr>
        <p:spPr>
          <a:xfrm>
            <a:off x="833238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55E66F"/>
                </a:solidFill>
              </a:rPr>
              <a:t>[Group Metric 1]  ([n.nn]/3, [RAG STATUS])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[Group Metric 1 General Conclusion]</a:t>
            </a:r>
          </a:p>
        </p:txBody>
      </p:sp>
      <p:sp>
        <p:nvSpPr>
          <p:cNvPr id="102" name="Category Card 2" descr="Category Card"/>
          <p:cNvSpPr/>
          <p:nvPr/>
        </p:nvSpPr>
        <p:spPr>
          <a:xfrm>
            <a:off x="6392114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55E66F"/>
                </a:solidFill>
              </a:rPr>
              <a:t>[Group Metric N]  ([n.nn]/3, [RAG STATUS])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[Group Metric N General Conclusion]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837DA-970B-A2F0-3E07-296E832C2283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81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4936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916EE9-65B3-62B9-05A9-054B016DE0A2}"/>
              </a:ext>
            </a:extLst>
          </p:cNvPr>
          <p:cNvSpPr/>
          <p:nvPr/>
        </p:nvSpPr>
        <p:spPr>
          <a:xfrm>
            <a:off x="783167" y="1496908"/>
            <a:ext cx="4675293" cy="4802295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4733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rial"/>
              </a:rPr>
              <a:t>Top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5 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Items (Cross-group)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CDBFE-6385-148B-A61D-76C38E6F43B0}"/>
              </a:ext>
            </a:extLst>
          </p:cNvPr>
          <p:cNvSpPr txBox="1"/>
          <p:nvPr/>
        </p:nvSpPr>
        <p:spPr>
          <a:xfrm>
            <a:off x="1125220" y="2234251"/>
            <a:ext cx="4150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1. [TOP_RED_1_GROUP] — [TOP_RED_1_ITEM] (Why: [TOP_RED_1_WHY])</a:t>
            </a:r>
          </a:p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   Action: [TOP_RED_1_ACTION]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2. [TOP_RED_2_GROUP] — [TOP_RED_2_ITEM] (Why: [TOP_RED_2_WHY])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[TOP_RED_2_ACTION]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3. [TOP_RED_3_GROUP] — [TOP_RED_3_ITEM] (Why: [TOP_RED_3_WHY])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[TOP_RED_3_ACTION]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4. [TOP_RED_4_GROUP] — [TOP_RED_4_ITEM] (Why: [TOP_RED_4_WHY])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[TOP_RED_4_ACTION]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5. [TOP_RED_5_GROUP] — [TOP_RED_5_ITEM] (Why: [TOP_RED_5_WHY])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[TOP_RED_5_ACTION]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00FFA-EE9E-C37C-C994-A5630E2E968B}"/>
              </a:ext>
            </a:extLst>
          </p:cNvPr>
          <p:cNvSpPr/>
          <p:nvPr/>
        </p:nvSpPr>
        <p:spPr>
          <a:xfrm>
            <a:off x="6400800" y="1496910"/>
            <a:ext cx="5491480" cy="4802294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9DEF7-8350-639B-711D-9514B476136A}"/>
              </a:ext>
            </a:extLst>
          </p:cNvPr>
          <p:cNvSpPr txBox="1"/>
          <p:nvPr/>
        </p:nvSpPr>
        <p:spPr>
          <a:xfrm>
            <a:off x="6720840" y="2219785"/>
            <a:ext cx="4663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1. [TOP_AMBER_1_GROUP] — [TOP_AMBER_1_ITEM] (Why: [TOP_AMBER_1_WHY])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[TOP_AMBER_1_ACTION]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2. [TOP_AMBER_2_GROUP] — [TOP_AMBER_2_ITEM] (Why: [TOP_AMBER_2_WHY])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[TOP_AMBER_2_ACTION]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3. [TOP_AMBER_3_GROUP] — [TOP_AMBER_3_ITEM] (Why: [TOP_AMBER_3_WHY])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[TOP_AMBER_3_ACTION]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4. [TOP_AMBER_4_GROUP] — [TOP_AMBER_4_ITEM] (Why: [TOP_AMBER_4_WHY])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[TOP_AMBER_4_ACTION]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5. [TOP_AMBER_5_GROUP] — [TOP_AMBER_5_ITEM] (Why: [TOP_AMBER_5_WHY])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[TOP_AMBER_5_ACTION]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37FC2-8F50-D579-FC0E-05C20B1A04E7}"/>
              </a:ext>
            </a:extLst>
          </p:cNvPr>
          <p:cNvSpPr/>
          <p:nvPr/>
        </p:nvSpPr>
        <p:spPr bwMode="auto">
          <a:xfrm>
            <a:off x="1143508" y="1752840"/>
            <a:ext cx="2431796" cy="33239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RED (immediate: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F47CD-1C06-A37C-BD1D-878893EB8A92}"/>
              </a:ext>
            </a:extLst>
          </p:cNvPr>
          <p:cNvSpPr/>
          <p:nvPr/>
        </p:nvSpPr>
        <p:spPr bwMode="auto">
          <a:xfrm>
            <a:off x="6766814" y="1738373"/>
            <a:ext cx="2578354" cy="332399"/>
          </a:xfrm>
          <a:prstGeom prst="rect">
            <a:avLst/>
          </a:prstGeom>
          <a:solidFill>
            <a:srgbClr val="FF770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AMBER (needs attention):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38B2F-A595-8807-4135-C790518001BD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4D6E-FDFE-AEB9-3E7B-647E6EE7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82E1EF-2CCD-604A-FB49-FD9A7969C04A}"/>
              </a:ext>
            </a:extLst>
          </p:cNvPr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3F4AC-DE7B-F8CE-132B-9C412219AA7E}"/>
              </a:ext>
            </a:extLst>
          </p:cNvPr>
          <p:cNvSpPr/>
          <p:nvPr/>
        </p:nvSpPr>
        <p:spPr>
          <a:xfrm>
            <a:off x="548640" y="3977639"/>
            <a:ext cx="5394960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B28B5-4720-8F0C-479C-F81F7225D744}"/>
              </a:ext>
            </a:extLst>
          </p:cNvPr>
          <p:cNvSpPr txBox="1"/>
          <p:nvPr/>
        </p:nvSpPr>
        <p:spPr>
          <a:xfrm>
            <a:off x="548640" y="320040"/>
            <a:ext cx="4849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G[N]</a:t>
            </a:r>
            <a:r>
              <a:rPr sz="2800" b="1" dirty="0">
                <a:solidFill>
                  <a:srgbClr val="FFFFFF"/>
                </a:solidFill>
              </a:rPr>
              <a:t> — </a:t>
            </a:r>
            <a:r>
              <a:rPr lang="en-US" sz="2800" b="1" dirty="0">
                <a:solidFill>
                  <a:srgbClr val="FFFFFF"/>
                </a:solidFill>
              </a:rPr>
              <a:t>[Group Metric name N]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DA4A0-1607-8B4A-F5BB-3FE26F3F6F53}"/>
              </a:ext>
            </a:extLst>
          </p:cNvPr>
          <p:cNvSpPr txBox="1"/>
          <p:nvPr/>
        </p:nvSpPr>
        <p:spPr>
          <a:xfrm>
            <a:off x="548640" y="960120"/>
            <a:ext cx="30710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Score: [n.nn] / 3   |   RAG: [RAG STATUS]</a:t>
            </a:r>
          </a:p>
        </p:txBody>
      </p:sp>
      <p:sp>
        <p:nvSpPr>
          <p:cNvPr id="4" name="Rectangle 3" descr="RAG Status Box">
            <a:extLst>
              <a:ext uri="{FF2B5EF4-FFF2-40B4-BE49-F238E27FC236}">
                <a16:creationId xmlns:a16="http://schemas.microsoft.com/office/drawing/2014/main" id="{0BB17645-CC5B-ADB8-ED90-23DE2C861C01}"/>
              </a:ext>
            </a:extLst>
          </p:cNvPr>
          <p:cNvSpPr/>
          <p:nvPr/>
        </p:nvSpPr>
        <p:spPr>
          <a:xfrm>
            <a:off x="10152110" y="389279"/>
            <a:ext cx="1463040" cy="457200"/>
          </a:xfrm>
          <a:prstGeom prst="rect">
            <a:avLst/>
          </a:prstGeom>
          <a:solidFill>
            <a:srgbClr val="55E66F"/>
          </a:solidFill>
          <a:ln>
            <a:solidFill>
              <a:srgbClr val="55E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24A98-8F05-1A04-2978-35EE4293E2A0}"/>
              </a:ext>
            </a:extLst>
          </p:cNvPr>
          <p:cNvSpPr txBox="1"/>
          <p:nvPr/>
        </p:nvSpPr>
        <p:spPr>
          <a:xfrm>
            <a:off x="10284885" y="457010"/>
            <a:ext cx="12634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0B0B0F"/>
                </a:solidFill>
              </a:rPr>
              <a:t>[RAG Status]</a:t>
            </a:r>
            <a:endParaRPr sz="1600" b="1" dirty="0">
              <a:solidFill>
                <a:srgbClr val="0B0B0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E7733-37FF-062C-A580-CE04C748B2A1}"/>
              </a:ext>
            </a:extLst>
          </p:cNvPr>
          <p:cNvSpPr/>
          <p:nvPr/>
        </p:nvSpPr>
        <p:spPr>
          <a:xfrm>
            <a:off x="6126480" y="1417320"/>
            <a:ext cx="5513832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F1DA6-2A60-A4EC-3279-9D9E3185E0BE}"/>
              </a:ext>
            </a:extLst>
          </p:cNvPr>
          <p:cNvSpPr txBox="1"/>
          <p:nvPr/>
        </p:nvSpPr>
        <p:spPr>
          <a:xfrm>
            <a:off x="822960" y="4218043"/>
            <a:ext cx="134043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CRITICAL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A60BC-A198-39EA-A944-505ADCA67E0B}"/>
              </a:ext>
            </a:extLst>
          </p:cNvPr>
          <p:cNvSpPr txBox="1"/>
          <p:nvPr/>
        </p:nvSpPr>
        <p:spPr>
          <a:xfrm>
            <a:off x="777240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[List of RED Findings with some recommendations]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E8739-44FF-22EB-6A62-DE37CFD89613}"/>
              </a:ext>
            </a:extLst>
          </p:cNvPr>
          <p:cNvSpPr txBox="1"/>
          <p:nvPr/>
        </p:nvSpPr>
        <p:spPr>
          <a:xfrm>
            <a:off x="777240" y="1619180"/>
            <a:ext cx="22593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Conclusion </a:t>
            </a:r>
            <a:r>
              <a:rPr lang="en-US" sz="1200" b="1" dirty="0">
                <a:solidFill>
                  <a:srgbClr val="00F6FF"/>
                </a:solidFill>
              </a:rPr>
              <a:t>&amp; Recommendations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81810-FF07-727E-0F67-EA1AEC3AD62F}"/>
              </a:ext>
            </a:extLst>
          </p:cNvPr>
          <p:cNvSpPr txBox="1"/>
          <p:nvPr/>
        </p:nvSpPr>
        <p:spPr>
          <a:xfrm>
            <a:off x="777240" y="184778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[General Conclusion on this metrics category and key recommendations] 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E32D8-0530-93B2-DD0B-F9B692CB65B0}"/>
              </a:ext>
            </a:extLst>
          </p:cNvPr>
          <p:cNvSpPr/>
          <p:nvPr/>
        </p:nvSpPr>
        <p:spPr>
          <a:xfrm>
            <a:off x="6126480" y="3977639"/>
            <a:ext cx="5513832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A448A-7636-5A7E-9BEB-4650CDC228A0}"/>
              </a:ext>
            </a:extLst>
          </p:cNvPr>
          <p:cNvSpPr txBox="1"/>
          <p:nvPr/>
        </p:nvSpPr>
        <p:spPr>
          <a:xfrm>
            <a:off x="6372519" y="4218043"/>
            <a:ext cx="1247457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AMBER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2BCC0-31EA-4A86-6DC7-8CD64F600E11}"/>
              </a:ext>
            </a:extLst>
          </p:cNvPr>
          <p:cNvSpPr txBox="1"/>
          <p:nvPr/>
        </p:nvSpPr>
        <p:spPr>
          <a:xfrm>
            <a:off x="6326799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[List of AMBER Findings with some recommendations]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E1FEB-C253-66A3-13ED-A8A896449369}"/>
              </a:ext>
            </a:extLst>
          </p:cNvPr>
          <p:cNvSpPr txBox="1"/>
          <p:nvPr/>
        </p:nvSpPr>
        <p:spPr>
          <a:xfrm>
            <a:off x="6300216" y="153900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6FF"/>
                </a:solidFill>
              </a:rPr>
              <a:t>Key data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2669FE-A7B9-2838-1241-7B81E7C5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70760"/>
              </p:ext>
            </p:extLst>
          </p:nvPr>
        </p:nvGraphicFramePr>
        <p:xfrm>
          <a:off x="6300216" y="1848883"/>
          <a:ext cx="4937760" cy="192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Key data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1]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1]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N+1]</a:t>
                      </a:r>
                    </a:p>
                    <a:p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N+1]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N+2]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N+2]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21489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</TotalTime>
  <Words>774</Words>
  <Application>Microsoft Office PowerPoint</Application>
  <PresentationFormat>Widescreen</PresentationFormat>
  <Paragraphs>63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Courier New</vt:lpstr>
      <vt:lpstr>EPAM Master Dark 2023.1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Volodymyr Prymakov</dc:creator>
  <cp:keywords/>
  <dc:description>generated using python-pptx</dc:description>
  <cp:lastModifiedBy>Volodymyr Prymakov</cp:lastModifiedBy>
  <cp:revision>10</cp:revision>
  <dcterms:created xsi:type="dcterms:W3CDTF">2013-01-27T09:14:16Z</dcterms:created>
  <dcterms:modified xsi:type="dcterms:W3CDTF">2026-08-07T04:17:32Z</dcterms:modified>
  <cp:category/>
</cp:coreProperties>
</file>