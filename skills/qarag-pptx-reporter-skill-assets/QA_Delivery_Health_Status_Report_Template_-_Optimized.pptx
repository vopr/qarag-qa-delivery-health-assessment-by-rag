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2" r:id="rId2"/>
    <p:sldId id="267" r:id="rId3"/>
    <p:sldId id="266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701"/>
    <a:srgbClr val="DEA900"/>
    <a:srgbClr val="FFC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5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833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0793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>
          <p15:clr>
            <a:srgbClr val="F26B43"/>
          </p15:clr>
        </p15:guide>
        <p15:guide id="3" pos="7301">
          <p15:clr>
            <a:srgbClr val="F26B43"/>
          </p15:clr>
        </p15:guide>
        <p15:guide id="12" orient="horz" pos="3912">
          <p15:clr>
            <a:srgbClr val="F26B43"/>
          </p15:clr>
        </p15:guide>
        <p15:guide id="13" pos="826">
          <p15:clr>
            <a:srgbClr val="F26B43"/>
          </p15:clr>
        </p15:guide>
        <p15:guide id="14" pos="981">
          <p15:clr>
            <a:srgbClr val="F26B43"/>
          </p15:clr>
        </p15:guide>
        <p15:guide id="15" pos="1392">
          <p15:clr>
            <a:srgbClr val="F26B43"/>
          </p15:clr>
        </p15:guide>
        <p15:guide id="16" pos="1536">
          <p15:clr>
            <a:srgbClr val="F26B43"/>
          </p15:clr>
        </p15:guide>
        <p15:guide id="17" pos="2000">
          <p15:clr>
            <a:srgbClr val="F26B43"/>
          </p15:clr>
        </p15:guide>
        <p15:guide id="18" pos="2152">
          <p15:clr>
            <a:srgbClr val="F26B43"/>
          </p15:clr>
        </p15:guide>
        <p15:guide id="19" pos="2590">
          <p15:clr>
            <a:srgbClr val="F26B43"/>
          </p15:clr>
        </p15:guide>
        <p15:guide id="20" pos="2743">
          <p15:clr>
            <a:srgbClr val="F26B43"/>
          </p15:clr>
        </p15:guide>
        <p15:guide id="21" pos="3182">
          <p15:clr>
            <a:srgbClr val="F26B43"/>
          </p15:clr>
        </p15:guide>
        <p15:guide id="22" pos="3329">
          <p15:clr>
            <a:srgbClr val="F26B43"/>
          </p15:clr>
        </p15:guide>
        <p15:guide id="23" pos="3764">
          <p15:clr>
            <a:srgbClr val="F26B43"/>
          </p15:clr>
        </p15:guide>
        <p15:guide id="24" pos="3916">
          <p15:clr>
            <a:srgbClr val="F26B43"/>
          </p15:clr>
        </p15:guide>
        <p15:guide id="25" pos="4353">
          <p15:clr>
            <a:srgbClr val="F26B43"/>
          </p15:clr>
        </p15:guide>
        <p15:guide id="26" pos="4508">
          <p15:clr>
            <a:srgbClr val="F26B43"/>
          </p15:clr>
        </p15:guide>
        <p15:guide id="27" pos="4950">
          <p15:clr>
            <a:srgbClr val="F26B43"/>
          </p15:clr>
        </p15:guide>
        <p15:guide id="28" pos="5100">
          <p15:clr>
            <a:srgbClr val="F26B43"/>
          </p15:clr>
        </p15:guide>
        <p15:guide id="29" pos="5536">
          <p15:clr>
            <a:srgbClr val="F26B43"/>
          </p15:clr>
        </p15:guide>
        <p15:guide id="30" pos="5689">
          <p15:clr>
            <a:srgbClr val="F26B43"/>
          </p15:clr>
        </p15:guide>
        <p15:guide id="31" pos="6123">
          <p15:clr>
            <a:srgbClr val="F26B43"/>
          </p15:clr>
        </p15:guide>
        <p15:guide id="32" pos="6278">
          <p15:clr>
            <a:srgbClr val="F26B43"/>
          </p15:clr>
        </p15:guide>
        <p15:guide id="33" pos="6712">
          <p15:clr>
            <a:srgbClr val="F26B43"/>
          </p15:clr>
        </p15:guide>
        <p15:guide id="34" pos="6865">
          <p15:clr>
            <a:srgbClr val="F26B43"/>
          </p15:clr>
        </p15:guide>
        <p15:guide id="35" orient="horz" pos="984">
          <p15:clr>
            <a:srgbClr val="F26B43"/>
          </p15:clr>
        </p15:guide>
        <p15:guide id="36" orient="horz" pos="4128">
          <p15:clr>
            <a:srgbClr val="F26B43"/>
          </p15:clr>
        </p15:guide>
        <p15:guide id="37" orient="horz" pos="1080">
          <p15:clr>
            <a:srgbClr val="F26B43"/>
          </p15:clr>
        </p15:guide>
        <p15:guide id="38" orient="horz" pos="1248">
          <p15:clr>
            <a:srgbClr val="F26B43"/>
          </p15:clr>
        </p15:guide>
        <p15:guide id="39" orient="horz" pos="672">
          <p15:clr>
            <a:srgbClr val="F26B43"/>
          </p15:clr>
        </p15:guide>
        <p15:guide id="4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8D4B2-EDA2-14EF-FF43-86593154A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C3157B8-4901-09B1-2ECC-912330EE8438}"/>
              </a:ext>
            </a:extLst>
          </p:cNvPr>
          <p:cNvSpPr/>
          <p:nvPr/>
        </p:nvSpPr>
        <p:spPr>
          <a:xfrm>
            <a:off x="3780154" y="3710039"/>
            <a:ext cx="3357516" cy="2563231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56BD2-034D-7F0F-C49E-A74F5C63ACF0}"/>
              </a:ext>
            </a:extLst>
          </p:cNvPr>
          <p:cNvSpPr txBox="1"/>
          <p:nvPr/>
        </p:nvSpPr>
        <p:spPr>
          <a:xfrm>
            <a:off x="548640" y="320040"/>
            <a:ext cx="58606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Executive Summary — </a:t>
            </a:r>
            <a:r>
              <a:rPr lang="en-US" sz="2800" b="1" dirty="0">
                <a:solidFill>
                  <a:srgbClr val="FFFFFF"/>
                </a:solidFill>
              </a:rPr>
              <a:t>[Project Name]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81CC9-16A5-3007-410C-14F844462299}"/>
              </a:ext>
            </a:extLst>
          </p:cNvPr>
          <p:cNvSpPr txBox="1"/>
          <p:nvPr/>
        </p:nvSpPr>
        <p:spPr>
          <a:xfrm>
            <a:off x="548640" y="960120"/>
            <a:ext cx="84547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Reporting period: </a:t>
            </a:r>
            <a:r>
              <a:rPr lang="en-US" sz="1400" dirty="0">
                <a:solidFill>
                  <a:srgbClr val="C8C8D0"/>
                </a:solidFill>
              </a:rPr>
              <a:t>[Reporting Period]</a:t>
            </a:r>
            <a:r>
              <a:rPr sz="1400" dirty="0">
                <a:solidFill>
                  <a:srgbClr val="C8C8D0"/>
                </a:solidFill>
              </a:rPr>
              <a:t>  |   </a:t>
            </a:r>
            <a:r>
              <a:rPr lang="en-US" sz="1400" dirty="0">
                <a:solidFill>
                  <a:srgbClr val="C8C8D0"/>
                </a:solidFill>
              </a:rPr>
              <a:t>A</a:t>
            </a:r>
            <a:r>
              <a:rPr sz="1400" dirty="0">
                <a:solidFill>
                  <a:srgbClr val="C8C8D0"/>
                </a:solidFill>
              </a:rPr>
              <a:t>ssessment</a:t>
            </a:r>
            <a:r>
              <a:rPr lang="en-US" sz="1400" dirty="0">
                <a:solidFill>
                  <a:srgbClr val="C8C8D0"/>
                </a:solidFill>
              </a:rPr>
              <a:t> Date and Time</a:t>
            </a:r>
            <a:r>
              <a:rPr sz="1400" dirty="0">
                <a:solidFill>
                  <a:srgbClr val="C8C8D0"/>
                </a:solidFill>
              </a:rPr>
              <a:t>: </a:t>
            </a:r>
            <a:r>
              <a:rPr lang="en-US" sz="1400" dirty="0">
                <a:solidFill>
                  <a:srgbClr val="C8C8D0"/>
                </a:solidFill>
              </a:rPr>
              <a:t>[last report time] |   Author: [user.name]</a:t>
            </a:r>
            <a:endParaRPr sz="1400" dirty="0">
              <a:solidFill>
                <a:srgbClr val="C8C8D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1E993F-3BA0-C65E-5EE7-D8C39B4B29E2}"/>
              </a:ext>
            </a:extLst>
          </p:cNvPr>
          <p:cNvSpPr/>
          <p:nvPr/>
        </p:nvSpPr>
        <p:spPr>
          <a:xfrm>
            <a:off x="3769145" y="1412699"/>
            <a:ext cx="3377952" cy="2150633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85EAB2-2CF0-131D-F523-34050124ADCA}"/>
              </a:ext>
            </a:extLst>
          </p:cNvPr>
          <p:cNvSpPr txBox="1"/>
          <p:nvPr/>
        </p:nvSpPr>
        <p:spPr>
          <a:xfrm>
            <a:off x="4914567" y="1521690"/>
            <a:ext cx="1347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Overall</a:t>
            </a:r>
            <a:r>
              <a:rPr lang="en-US" sz="1200" b="1" dirty="0">
                <a:solidFill>
                  <a:srgbClr val="00F6FF"/>
                </a:solidFill>
              </a:rPr>
              <a:t> Status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27" name="Rectangle 26" descr="Overall RAG Status">
            <a:extLst>
              <a:ext uri="{FF2B5EF4-FFF2-40B4-BE49-F238E27FC236}">
                <a16:creationId xmlns:a16="http://schemas.microsoft.com/office/drawing/2014/main" id="{5E6961F5-0480-6D10-D723-E042AE2824E3}"/>
              </a:ext>
            </a:extLst>
          </p:cNvPr>
          <p:cNvSpPr/>
          <p:nvPr/>
        </p:nvSpPr>
        <p:spPr>
          <a:xfrm>
            <a:off x="3992987" y="1875075"/>
            <a:ext cx="2956149" cy="804138"/>
          </a:xfrm>
          <a:prstGeom prst="rect">
            <a:avLst/>
          </a:prstGeom>
          <a:solidFill>
            <a:srgbClr val="FF7701"/>
          </a:solidFill>
          <a:ln>
            <a:solidFill>
              <a:srgbClr val="FF77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921EF8-8E46-561C-98F8-507FC5B39796}"/>
              </a:ext>
            </a:extLst>
          </p:cNvPr>
          <p:cNvSpPr txBox="1"/>
          <p:nvPr/>
        </p:nvSpPr>
        <p:spPr>
          <a:xfrm>
            <a:off x="3981967" y="2879153"/>
            <a:ext cx="30897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FFFFFF"/>
                </a:solidFill>
              </a:rPr>
              <a:t>Score: [n.nn] / 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59A370-5A6B-005A-3E13-83F65419F2DA}"/>
              </a:ext>
            </a:extLst>
          </p:cNvPr>
          <p:cNvSpPr txBox="1"/>
          <p:nvPr/>
        </p:nvSpPr>
        <p:spPr>
          <a:xfrm>
            <a:off x="3974876" y="4255339"/>
            <a:ext cx="2968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lang="en-US" sz="1200" dirty="0"/>
              <a:t>[General conclusions about project status]</a:t>
            </a:r>
            <a:endParaRPr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0226B7-2C89-3B8F-3C7C-F0372768BEDD}"/>
              </a:ext>
            </a:extLst>
          </p:cNvPr>
          <p:cNvSpPr txBox="1"/>
          <p:nvPr/>
        </p:nvSpPr>
        <p:spPr>
          <a:xfrm>
            <a:off x="8817108" y="1492610"/>
            <a:ext cx="13170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Scores by group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E5AAD6-B1A9-728E-A3AC-D09AF4B587AC}"/>
              </a:ext>
            </a:extLst>
          </p:cNvPr>
          <p:cNvSpPr txBox="1"/>
          <p:nvPr/>
        </p:nvSpPr>
        <p:spPr>
          <a:xfrm>
            <a:off x="4082768" y="1959924"/>
            <a:ext cx="2879645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0B0B0F"/>
                </a:solidFill>
              </a:rPr>
              <a:t>[RAG STATUS]</a:t>
            </a:r>
            <a:endParaRPr sz="3500" b="1" dirty="0">
              <a:solidFill>
                <a:srgbClr val="0B0B0F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1E6C7E-6A21-AAE9-D914-18EFFD83A419}"/>
              </a:ext>
            </a:extLst>
          </p:cNvPr>
          <p:cNvSpPr txBox="1"/>
          <p:nvPr/>
        </p:nvSpPr>
        <p:spPr>
          <a:xfrm>
            <a:off x="4644694" y="3854610"/>
            <a:ext cx="15028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F6FF"/>
                </a:solidFill>
              </a:rPr>
              <a:t>General Conclusions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DD7061-0D7E-FA72-66F5-BF90B4426A4F}"/>
              </a:ext>
            </a:extLst>
          </p:cNvPr>
          <p:cNvSpPr/>
          <p:nvPr/>
        </p:nvSpPr>
        <p:spPr>
          <a:xfrm>
            <a:off x="713021" y="1412699"/>
            <a:ext cx="2691646" cy="4860571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AC130-1D21-1F75-487E-6BDBB1711F11}"/>
              </a:ext>
            </a:extLst>
          </p:cNvPr>
          <p:cNvSpPr txBox="1"/>
          <p:nvPr/>
        </p:nvSpPr>
        <p:spPr>
          <a:xfrm>
            <a:off x="888881" y="1507699"/>
            <a:ext cx="15028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F6FF"/>
                </a:solidFill>
              </a:rPr>
              <a:t>Project Facts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E3B3A-9A52-B636-9A58-0FC461B380D1}"/>
              </a:ext>
            </a:extLst>
          </p:cNvPr>
          <p:cNvSpPr txBox="1"/>
          <p:nvPr/>
        </p:nvSpPr>
        <p:spPr>
          <a:xfrm>
            <a:off x="809598" y="1800538"/>
            <a:ext cx="2495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8C8D0"/>
                </a:solidFill>
              </a:rPr>
              <a:t>[Project entry information]</a:t>
            </a:r>
          </a:p>
          <a:p>
            <a:r>
              <a:rPr lang="en-US" sz="1200" dirty="0">
                <a:solidFill>
                  <a:srgbClr val="C8C8D0"/>
                </a:solidFill>
              </a:rPr>
              <a:t>[Metrics types in scope]</a:t>
            </a:r>
            <a:endParaRPr sz="1200" dirty="0">
              <a:solidFill>
                <a:srgbClr val="C8C8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76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C8929-DFC4-444F-AC73-C33772A8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5BFD2-EC68-E578-9181-E27E98A1A2D2}"/>
              </a:ext>
            </a:extLst>
          </p:cNvPr>
          <p:cNvSpPr txBox="1"/>
          <p:nvPr/>
        </p:nvSpPr>
        <p:spPr>
          <a:xfrm>
            <a:off x="548640" y="320040"/>
            <a:ext cx="40438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General Categories Scores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6E36A7-E1AB-1E5E-8A26-74E9D41C4CA7}"/>
              </a:ext>
            </a:extLst>
          </p:cNvPr>
          <p:cNvSpPr/>
          <p:nvPr/>
        </p:nvSpPr>
        <p:spPr>
          <a:xfrm>
            <a:off x="629349" y="1384757"/>
            <a:ext cx="10933302" cy="4838243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ategory Card 1" descr="Category Card"/>
          <p:cNvSpPr/>
          <p:nvPr/>
        </p:nvSpPr>
        <p:spPr>
          <a:xfrm>
            <a:off x="833238" y="2162009"/>
            <a:ext cx="5053523" cy="3032113"/>
          </a:xfrm>
          <a:prstGeom prst="rect">
            <a:avLst/>
          </a:prstGeom>
          <a:solidFill>
            <a:srgbClr val="16161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txBody>
          <a:bodyPr spcFirstLastPara="0" vert="horz" wrap="square" lIns="129540" tIns="129540" rIns="129540" bIns="129540" numCol="1" spcCol="1270" anchor="ctr" anchorCtr="0">
            <a:normAutofit fontScale="70000" lnSpcReduction="10000"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b="1" kern="1200" dirty="0">
                <a:solidFill>
                  <a:srgbClr val="55E66F"/>
                </a:solidFill>
              </a:rPr>
              <a:t>[Group Metric 1]  ([n.nn]/3, [RAG STATUS])</a:t>
            </a: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rgbClr val="FFFFFF"/>
                </a:solidFill>
              </a:rPr>
              <a:t>[Group Metric 1 General Conclusion]</a:t>
            </a:r>
          </a:p>
        </p:txBody>
      </p:sp>
      <p:sp>
        <p:nvSpPr>
          <p:cNvPr id="102" name="Category Card 2" descr="Category Card"/>
          <p:cNvSpPr/>
          <p:nvPr/>
        </p:nvSpPr>
        <p:spPr>
          <a:xfrm>
            <a:off x="6392114" y="2162009"/>
            <a:ext cx="5053523" cy="3032113"/>
          </a:xfrm>
          <a:prstGeom prst="rect">
            <a:avLst/>
          </a:prstGeom>
          <a:solidFill>
            <a:srgbClr val="16161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txBody>
          <a:bodyPr spcFirstLastPara="0" vert="horz" wrap="square" lIns="129540" tIns="129540" rIns="129540" bIns="129540" numCol="1" spcCol="1270" anchor="ctr" anchorCtr="0">
            <a:normAutofit fontScale="70000" lnSpcReduction="10000"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b="1" kern="1200" dirty="0">
                <a:solidFill>
                  <a:srgbClr val="55E66F"/>
                </a:solidFill>
              </a:rPr>
              <a:t>[Group Metric N]  ([n.nn]/3, [RAG STATUS])</a:t>
            </a:r>
          </a:p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rgbClr val="FFFFFF"/>
                </a:solidFill>
              </a:rPr>
              <a:t>[Group Metric N General Conclusion]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837DA-970B-A2F0-3E07-296E832C2283}"/>
              </a:ext>
            </a:extLst>
          </p:cNvPr>
          <p:cNvSpPr txBox="1"/>
          <p:nvPr/>
        </p:nvSpPr>
        <p:spPr>
          <a:xfrm>
            <a:off x="548640" y="960120"/>
            <a:ext cx="84547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Reporting period: </a:t>
            </a:r>
            <a:r>
              <a:rPr lang="en-US" sz="1400" dirty="0">
                <a:solidFill>
                  <a:srgbClr val="C8C8D0"/>
                </a:solidFill>
              </a:rPr>
              <a:t>[Reporting Period]</a:t>
            </a:r>
            <a:r>
              <a:rPr sz="1400" dirty="0">
                <a:solidFill>
                  <a:srgbClr val="C8C8D0"/>
                </a:solidFill>
              </a:rPr>
              <a:t>  |   </a:t>
            </a:r>
            <a:r>
              <a:rPr lang="en-US" sz="1400" dirty="0">
                <a:solidFill>
                  <a:srgbClr val="C8C8D0"/>
                </a:solidFill>
              </a:rPr>
              <a:t>A</a:t>
            </a:r>
            <a:r>
              <a:rPr sz="1400" dirty="0">
                <a:solidFill>
                  <a:srgbClr val="C8C8D0"/>
                </a:solidFill>
              </a:rPr>
              <a:t>ssessment</a:t>
            </a:r>
            <a:r>
              <a:rPr lang="en-US" sz="1400" dirty="0">
                <a:solidFill>
                  <a:srgbClr val="C8C8D0"/>
                </a:solidFill>
              </a:rPr>
              <a:t> Date and Time</a:t>
            </a:r>
            <a:r>
              <a:rPr sz="1400" dirty="0">
                <a:solidFill>
                  <a:srgbClr val="C8C8D0"/>
                </a:solidFill>
              </a:rPr>
              <a:t>: </a:t>
            </a:r>
            <a:r>
              <a:rPr lang="en-US" sz="1400" dirty="0">
                <a:solidFill>
                  <a:srgbClr val="C8C8D0"/>
                </a:solidFill>
              </a:rPr>
              <a:t>[last report time] |   Author: [user.name]</a:t>
            </a:r>
            <a:endParaRPr sz="1400" dirty="0">
              <a:solidFill>
                <a:srgbClr val="C8C8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81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24936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916EE9-65B3-62B9-05A9-054B016DE0A2}"/>
              </a:ext>
            </a:extLst>
          </p:cNvPr>
          <p:cNvSpPr/>
          <p:nvPr/>
        </p:nvSpPr>
        <p:spPr>
          <a:xfrm>
            <a:off x="783167" y="1496908"/>
            <a:ext cx="4675293" cy="4802295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4733"/>
            <a:ext cx="11155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rial"/>
              </a:rPr>
              <a:t>Top </a:t>
            </a:r>
            <a:r>
              <a:rPr lang="en-US" sz="2600" b="1" dirty="0">
                <a:solidFill>
                  <a:srgbClr val="FFFFFF"/>
                </a:solidFill>
                <a:latin typeface="Arial"/>
              </a:rPr>
              <a:t>5 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Items (Cross-group)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CDBFE-6385-148B-A61D-76C38E6F43B0}"/>
              </a:ext>
            </a:extLst>
          </p:cNvPr>
          <p:cNvSpPr txBox="1"/>
          <p:nvPr/>
        </p:nvSpPr>
        <p:spPr>
          <a:xfrm>
            <a:off x="1125220" y="2234251"/>
            <a:ext cx="41503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  <a:latin typeface="Arial"/>
              </a:rPr>
              <a:t>1. [TOP_RED_1_GROUP] — [TOP_RED_1_ITEM] (Why: [TOP_RED_1_WHY])</a:t>
            </a:r>
          </a:p>
          <a:p>
            <a:pPr algn="l"/>
            <a:r>
              <a:rPr sz="1200" b="0" dirty="0">
                <a:solidFill>
                  <a:srgbClr val="FFFFFF"/>
                </a:solidFill>
                <a:latin typeface="Arial"/>
              </a:rPr>
              <a:t>   Action: [TOP_RED_1_ACTION]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2. [TOP_RED_2_GROUP] — [TOP_RED_2_ITEM] (Why: [TOP_RED_2_WHY])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[TOP_RED_2_ACTION]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3. [TOP_RED_3_GROUP] — [TOP_RED_3_ITEM] (Why: [TOP_RED_3_WHY])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[TOP_RED_3_ACTION]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4. [TOP_RED_4_GROUP] — [TOP_RED_4_ITEM] (Why: [TOP_RED_4_WHY])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[TOP_RED_4_ACTION]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5. [TOP_RED_5_GROUP] — [TOP_RED_5_ITEM] (Why: [TOP_RED_5_WHY])</a:t>
            </a:r>
          </a:p>
          <a:p>
            <a:r>
              <a:rPr sz="1200" b="0" dirty="0">
                <a:solidFill>
                  <a:srgbClr val="FFFFFF"/>
                </a:solidFill>
                <a:latin typeface="Arial"/>
              </a:rPr>
              <a:t>   Action: [TOP_RED_5_ACTION]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700FFA-EE9E-C37C-C994-A5630E2E968B}"/>
              </a:ext>
            </a:extLst>
          </p:cNvPr>
          <p:cNvSpPr/>
          <p:nvPr/>
        </p:nvSpPr>
        <p:spPr>
          <a:xfrm>
            <a:off x="6400800" y="1496910"/>
            <a:ext cx="5491480" cy="4802294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89DEF7-8350-639B-711D-9514B476136A}"/>
              </a:ext>
            </a:extLst>
          </p:cNvPr>
          <p:cNvSpPr txBox="1"/>
          <p:nvPr/>
        </p:nvSpPr>
        <p:spPr>
          <a:xfrm>
            <a:off x="6720840" y="2219785"/>
            <a:ext cx="46634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1. [TOP_AMBER_1_GROUP] — [TOP_AMBER_1_ITEM] (Why: [TOP_AMBER_1_WHY])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[TOP_AMBER_1_ACTION]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2. [TOP_AMBER_2_GROUP] — [TOP_AMBER_2_ITEM] (Why: [TOP_AMBER_2_WHY])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[TOP_AMBER_2_ACTION]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3. [TOP_AMBER_3_GROUP] — [TOP_AMBER_3_ITEM] (Why: [TOP_AMBER_3_WHY])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[TOP_AMBER_3_ACTION]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4. [TOP_AMBER_4_GROUP] — [TOP_AMBER_4_ITEM] (Why: [TOP_AMBER_4_WHY])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[TOP_AMBER_4_ACTION]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5. [TOP_AMBER_5_GROUP] — [TOP_AMBER_5_ITEM] (Why: [TOP_AMBER_5_WHY])</a:t>
            </a:r>
          </a:p>
          <a:p>
            <a:r>
              <a:rPr lang="en-US" sz="1200" dirty="0">
                <a:solidFill>
                  <a:srgbClr val="FFFFFF"/>
                </a:solidFill>
                <a:latin typeface="Arial"/>
              </a:rPr>
              <a:t>   Action: [TOP_AMBER_5_ACTION]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37FC2-8F50-D579-FC0E-05C20B1A04E7}"/>
              </a:ext>
            </a:extLst>
          </p:cNvPr>
          <p:cNvSpPr/>
          <p:nvPr/>
        </p:nvSpPr>
        <p:spPr bwMode="auto">
          <a:xfrm>
            <a:off x="1143508" y="1752840"/>
            <a:ext cx="2431796" cy="33239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</a:rPr>
              <a:t>Top RED (immediate: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F47CD-1C06-A37C-BD1D-878893EB8A92}"/>
              </a:ext>
            </a:extLst>
          </p:cNvPr>
          <p:cNvSpPr/>
          <p:nvPr/>
        </p:nvSpPr>
        <p:spPr bwMode="auto">
          <a:xfrm>
            <a:off x="6766814" y="1738373"/>
            <a:ext cx="2578354" cy="332399"/>
          </a:xfrm>
          <a:prstGeom prst="rect">
            <a:avLst/>
          </a:prstGeom>
          <a:solidFill>
            <a:srgbClr val="FF770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/>
              </a:rPr>
              <a:t>Top AMBER (needs attention):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38B2F-A595-8807-4135-C790518001BD}"/>
              </a:ext>
            </a:extLst>
          </p:cNvPr>
          <p:cNvSpPr txBox="1"/>
          <p:nvPr/>
        </p:nvSpPr>
        <p:spPr>
          <a:xfrm>
            <a:off x="548640" y="960120"/>
            <a:ext cx="84547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Reporting period: </a:t>
            </a:r>
            <a:r>
              <a:rPr lang="en-US" sz="1400" dirty="0">
                <a:solidFill>
                  <a:srgbClr val="C8C8D0"/>
                </a:solidFill>
              </a:rPr>
              <a:t>[Reporting Period]</a:t>
            </a:r>
            <a:r>
              <a:rPr sz="1400" dirty="0">
                <a:solidFill>
                  <a:srgbClr val="C8C8D0"/>
                </a:solidFill>
              </a:rPr>
              <a:t>  |   </a:t>
            </a:r>
            <a:r>
              <a:rPr lang="en-US" sz="1400" dirty="0">
                <a:solidFill>
                  <a:srgbClr val="C8C8D0"/>
                </a:solidFill>
              </a:rPr>
              <a:t>A</a:t>
            </a:r>
            <a:r>
              <a:rPr sz="1400" dirty="0">
                <a:solidFill>
                  <a:srgbClr val="C8C8D0"/>
                </a:solidFill>
              </a:rPr>
              <a:t>ssessment</a:t>
            </a:r>
            <a:r>
              <a:rPr lang="en-US" sz="1400" dirty="0">
                <a:solidFill>
                  <a:srgbClr val="C8C8D0"/>
                </a:solidFill>
              </a:rPr>
              <a:t> Date and Time</a:t>
            </a:r>
            <a:r>
              <a:rPr sz="1400" dirty="0">
                <a:solidFill>
                  <a:srgbClr val="C8C8D0"/>
                </a:solidFill>
              </a:rPr>
              <a:t>: </a:t>
            </a:r>
            <a:r>
              <a:rPr lang="en-US" sz="1400" dirty="0">
                <a:solidFill>
                  <a:srgbClr val="C8C8D0"/>
                </a:solidFill>
              </a:rPr>
              <a:t>[last report time] |   Author: [user.name]</a:t>
            </a:r>
            <a:endParaRPr sz="1400" dirty="0">
              <a:solidFill>
                <a:srgbClr val="C8C8D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14D6E-FDFE-AEB9-3E7B-647E6EE7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A82E1EF-2CCD-604A-FB49-FD9A7969C04A}"/>
              </a:ext>
            </a:extLst>
          </p:cNvPr>
          <p:cNvSpPr/>
          <p:nvPr/>
        </p:nvSpPr>
        <p:spPr>
          <a:xfrm>
            <a:off x="548640" y="1417320"/>
            <a:ext cx="5394960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E3F4AC-DE7B-F8CE-132B-9C412219AA7E}"/>
              </a:ext>
            </a:extLst>
          </p:cNvPr>
          <p:cNvSpPr/>
          <p:nvPr/>
        </p:nvSpPr>
        <p:spPr>
          <a:xfrm>
            <a:off x="548640" y="3977639"/>
            <a:ext cx="5394960" cy="25603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8B28B5-4720-8F0C-479C-F81F7225D744}"/>
              </a:ext>
            </a:extLst>
          </p:cNvPr>
          <p:cNvSpPr txBox="1"/>
          <p:nvPr/>
        </p:nvSpPr>
        <p:spPr>
          <a:xfrm>
            <a:off x="548640" y="320040"/>
            <a:ext cx="48490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G[N]</a:t>
            </a:r>
            <a:r>
              <a:rPr sz="2800" b="1" dirty="0">
                <a:solidFill>
                  <a:srgbClr val="FFFFFF"/>
                </a:solidFill>
              </a:rPr>
              <a:t> — </a:t>
            </a:r>
            <a:r>
              <a:rPr lang="en-US" sz="2800" b="1" dirty="0">
                <a:solidFill>
                  <a:srgbClr val="FFFFFF"/>
                </a:solidFill>
              </a:rPr>
              <a:t>[Group Metric name N]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DA4A0-1607-8B4A-F5BB-3FE26F3F6F53}"/>
              </a:ext>
            </a:extLst>
          </p:cNvPr>
          <p:cNvSpPr txBox="1"/>
          <p:nvPr/>
        </p:nvSpPr>
        <p:spPr>
          <a:xfrm>
            <a:off x="548640" y="960120"/>
            <a:ext cx="30710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C8C8D0"/>
                </a:solidFill>
              </a:rPr>
              <a:t>Score: [n.nn] / 3   |   RAG: [RAG STATUS]</a:t>
            </a:r>
          </a:p>
        </p:txBody>
      </p:sp>
      <p:sp>
        <p:nvSpPr>
          <p:cNvPr id="4" name="Rectangle 3" descr="RAG Status Box">
            <a:extLst>
              <a:ext uri="{FF2B5EF4-FFF2-40B4-BE49-F238E27FC236}">
                <a16:creationId xmlns:a16="http://schemas.microsoft.com/office/drawing/2014/main" id="{0BB17645-CC5B-ADB8-ED90-23DE2C861C01}"/>
              </a:ext>
            </a:extLst>
          </p:cNvPr>
          <p:cNvSpPr/>
          <p:nvPr/>
        </p:nvSpPr>
        <p:spPr>
          <a:xfrm>
            <a:off x="10152110" y="389279"/>
            <a:ext cx="1463040" cy="457200"/>
          </a:xfrm>
          <a:prstGeom prst="rect">
            <a:avLst/>
          </a:prstGeom>
          <a:solidFill>
            <a:srgbClr val="55E66F"/>
          </a:solidFill>
          <a:ln>
            <a:solidFill>
              <a:srgbClr val="55E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24A98-8F05-1A04-2978-35EE4293E2A0}"/>
              </a:ext>
            </a:extLst>
          </p:cNvPr>
          <p:cNvSpPr txBox="1"/>
          <p:nvPr/>
        </p:nvSpPr>
        <p:spPr>
          <a:xfrm>
            <a:off x="10284885" y="457010"/>
            <a:ext cx="12634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0B0B0F"/>
                </a:solidFill>
              </a:rPr>
              <a:t>[RAG Status]</a:t>
            </a:r>
            <a:endParaRPr sz="1600" b="1" dirty="0">
              <a:solidFill>
                <a:srgbClr val="0B0B0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E7733-37FF-062C-A580-CE04C748B2A1}"/>
              </a:ext>
            </a:extLst>
          </p:cNvPr>
          <p:cNvSpPr/>
          <p:nvPr/>
        </p:nvSpPr>
        <p:spPr>
          <a:xfrm>
            <a:off x="6126480" y="1417320"/>
            <a:ext cx="5513832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F1DA6-2A60-A4EC-3279-9D9E3185E0BE}"/>
              </a:ext>
            </a:extLst>
          </p:cNvPr>
          <p:cNvSpPr txBox="1"/>
          <p:nvPr/>
        </p:nvSpPr>
        <p:spPr>
          <a:xfrm>
            <a:off x="822960" y="4218043"/>
            <a:ext cx="1340432" cy="27699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CRITICAL FINDING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A60BC-A198-39EA-A944-505ADCA67E0B}"/>
              </a:ext>
            </a:extLst>
          </p:cNvPr>
          <p:cNvSpPr txBox="1"/>
          <p:nvPr/>
        </p:nvSpPr>
        <p:spPr>
          <a:xfrm>
            <a:off x="777240" y="4675243"/>
            <a:ext cx="5074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[List of RED Findings with some recommendations]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E8739-44FF-22EB-6A62-DE37CFD89613}"/>
              </a:ext>
            </a:extLst>
          </p:cNvPr>
          <p:cNvSpPr txBox="1"/>
          <p:nvPr/>
        </p:nvSpPr>
        <p:spPr>
          <a:xfrm>
            <a:off x="777240" y="1619180"/>
            <a:ext cx="225933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00F6FF"/>
                </a:solidFill>
              </a:rPr>
              <a:t>Conclusion </a:t>
            </a:r>
            <a:r>
              <a:rPr lang="en-US" sz="1200" b="1" dirty="0">
                <a:solidFill>
                  <a:srgbClr val="00F6FF"/>
                </a:solidFill>
              </a:rPr>
              <a:t>&amp; Recommendations</a:t>
            </a:r>
            <a:endParaRPr sz="1200" b="1" dirty="0">
              <a:solidFill>
                <a:srgbClr val="00F6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F81810-FF07-727E-0F67-EA1AEC3AD62F}"/>
              </a:ext>
            </a:extLst>
          </p:cNvPr>
          <p:cNvSpPr txBox="1"/>
          <p:nvPr/>
        </p:nvSpPr>
        <p:spPr>
          <a:xfrm>
            <a:off x="777240" y="1847781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[General Conclusion on this metrics category and key recommendations] 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AE32D8-0530-93B2-DD0B-F9B692CB65B0}"/>
              </a:ext>
            </a:extLst>
          </p:cNvPr>
          <p:cNvSpPr/>
          <p:nvPr/>
        </p:nvSpPr>
        <p:spPr>
          <a:xfrm>
            <a:off x="6126480" y="3977639"/>
            <a:ext cx="5513832" cy="25603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3A448A-7636-5A7E-9BEB-4650CDC228A0}"/>
              </a:ext>
            </a:extLst>
          </p:cNvPr>
          <p:cNvSpPr txBox="1"/>
          <p:nvPr/>
        </p:nvSpPr>
        <p:spPr>
          <a:xfrm>
            <a:off x="6372519" y="4218043"/>
            <a:ext cx="1247457" cy="276999"/>
          </a:xfrm>
          <a:prstGeom prst="rect">
            <a:avLst/>
          </a:prstGeom>
          <a:solidFill>
            <a:srgbClr val="FF7701"/>
          </a:solidFill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AMBER FINDING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2BCC0-31EA-4A86-6DC7-8CD64F600E11}"/>
              </a:ext>
            </a:extLst>
          </p:cNvPr>
          <p:cNvSpPr txBox="1"/>
          <p:nvPr/>
        </p:nvSpPr>
        <p:spPr>
          <a:xfrm>
            <a:off x="6326799" y="4675243"/>
            <a:ext cx="5074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rPr lang="en-US" dirty="0"/>
              <a:t>[List of AMBER Findings with some recommendations]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5E1FEB-C253-66A3-13ED-A8A896449369}"/>
              </a:ext>
            </a:extLst>
          </p:cNvPr>
          <p:cNvSpPr txBox="1"/>
          <p:nvPr/>
        </p:nvSpPr>
        <p:spPr>
          <a:xfrm>
            <a:off x="6300216" y="1539003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6FF"/>
                </a:solidFill>
              </a:rPr>
              <a:t>Key data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22669FE-A7B9-2838-1241-7B81E7C56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270760"/>
              </p:ext>
            </p:extLst>
          </p:nvPr>
        </p:nvGraphicFramePr>
        <p:xfrm>
          <a:off x="6300216" y="1848883"/>
          <a:ext cx="4937760" cy="1926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90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F6FF"/>
                          </a:solidFill>
                        </a:rPr>
                        <a:t>Key data</a:t>
                      </a:r>
                    </a:p>
                  </a:txBody>
                  <a:tcPr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F6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1]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1]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N]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N]</a:t>
                      </a:r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N+1]</a:t>
                      </a:r>
                    </a:p>
                    <a:p>
                      <a:endParaRPr sz="11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N+1]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N+2]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[Key data name N+2]</a:t>
                      </a:r>
                    </a:p>
                  </a:txBody>
                  <a:tcPr>
                    <a:solidFill>
                      <a:srgbClr val="1616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321489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16161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1321</TotalTime>
  <Words>772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EPAM Master Dark 2023.1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Volodymyr Prymakov</dc:creator>
  <cp:keywords/>
  <dc:description>generated using python-pptx</dc:description>
  <cp:lastModifiedBy>Volodymyr Prymakov</cp:lastModifiedBy>
  <cp:revision>11</cp:revision>
  <dcterms:created xsi:type="dcterms:W3CDTF">2013-01-27T09:14:16Z</dcterms:created>
  <dcterms:modified xsi:type="dcterms:W3CDTF">2026-08-07T17:29:33Z</dcterms:modified>
  <cp:category/>
</cp:coreProperties>
</file>